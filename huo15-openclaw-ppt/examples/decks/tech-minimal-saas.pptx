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1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8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55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12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69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27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184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41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98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5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13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70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27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4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41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99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56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13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70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27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5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42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99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56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13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71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1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8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55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12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269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27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84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41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98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55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13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27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84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41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299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56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13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70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27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585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042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499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56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413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871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41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98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355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812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9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727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184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641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98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555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013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470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927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384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41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9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6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213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70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7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585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042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499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956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413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871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41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98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355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812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269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727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184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641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098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555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013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470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27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4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841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299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756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213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670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127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585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042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499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956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13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871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41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98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55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812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269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727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84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641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098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555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013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470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927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384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841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299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756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213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670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127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585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042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499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956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413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871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41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98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355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812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269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727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184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641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098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555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013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70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927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84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41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299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756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213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670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9127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9585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042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499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956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1413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1871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41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98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355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812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269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27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3184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641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4098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4555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5013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470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5927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384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6841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299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756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8213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8670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9127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9585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042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499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956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413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871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41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98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355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812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269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727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184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641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098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555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013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470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5927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384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6841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299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7756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213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670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127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585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0042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0499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0956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1413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1871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41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98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355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812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2269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2727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3184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3641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098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555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5013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470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5927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384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6841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7299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7756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8213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8670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127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585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042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499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956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1413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1871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41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898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355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812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2269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2727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3184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3641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4098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555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5013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470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927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6384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6841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7299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7756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8213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8670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9127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9585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042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499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956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413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71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441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898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355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12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2269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2727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3184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3641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4098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4555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5013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5470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5927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6384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6841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7299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7756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8213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8670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9127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9585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0042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499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0956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13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871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441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898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355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812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269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727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3184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3641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4098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4555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013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5470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927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6384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6841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7299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7756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8213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8670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9127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9585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0042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0499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0956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1413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1871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441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898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355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1812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269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727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184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641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098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555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5013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5470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5927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6384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6841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7299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756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8213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8670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9127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9585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0042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0499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0956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1413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11871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441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898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355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812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269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727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184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641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098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555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013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470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5927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384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6841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299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756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213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670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127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585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042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499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956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13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871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914400" y="13716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spc="260">
                <a:solidFill>
                  <a:srgbClr val="8B5CF6"/>
                </a:solidFill>
                <a:latin typeface="Inter"/>
              </a:rPr>
              <a:t>DEPLOY BUILD SHIP</a:t>
            </a:r>
          </a:p>
        </p:txBody>
      </p:sp>
      <p:sp>
        <p:nvSpPr>
          <p:cNvPr id="367" name="Oval 366"/>
          <p:cNvSpPr/>
          <p:nvPr/>
        </p:nvSpPr>
        <p:spPr>
          <a:xfrm>
            <a:off x="2330287" y="2014711"/>
            <a:ext cx="4420331" cy="2652198"/>
          </a:xfrm>
          <a:prstGeom prst="ellipse">
            <a:avLst/>
          </a:prstGeom>
          <a:solidFill>
            <a:srgbClr val="8B5CF6">
              <a:alpha val="32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698648" y="2235728"/>
            <a:ext cx="3683609" cy="2210165"/>
          </a:xfrm>
          <a:prstGeom prst="ellipse">
            <a:avLst/>
          </a:prstGeom>
          <a:solidFill>
            <a:srgbClr val="8B5CF6">
              <a:alpha val="24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3067009" y="2456744"/>
            <a:ext cx="2946887" cy="1768132"/>
          </a:xfrm>
          <a:prstGeom prst="ellipse">
            <a:avLst/>
          </a:prstGeom>
          <a:solidFill>
            <a:srgbClr val="8B5CF6">
              <a:alpha val="1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3435370" y="2677761"/>
            <a:ext cx="2210165" cy="1326099"/>
          </a:xfrm>
          <a:prstGeom prst="ellipse">
            <a:avLst/>
          </a:prstGeom>
          <a:solidFill>
            <a:srgbClr val="8B5CF6">
              <a:alpha val="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914400" y="2880360"/>
            <a:ext cx="103601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51" b="1" spc="-145">
                <a:solidFill>
                  <a:srgbClr val="F4F4F6"/>
                </a:solidFill>
                <a:latin typeface="Inter"/>
              </a:rPr>
              <a:t>为工程师而生的云。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914400" y="4077533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0" spc="-20">
                <a:solidFill>
                  <a:srgbClr val="9090A0"/>
                </a:solidFill>
                <a:latin typeface="Inter"/>
              </a:rPr>
              <a:t>git push 一次，全球秒级可用。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06070"/>
                </a:solidFill>
                <a:latin typeface="Inter"/>
              </a:rPr>
              <a:t>Cloud · 2026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35">
                <a:solidFill>
                  <a:srgbClr val="606070"/>
                </a:solidFill>
                <a:latin typeface="JetBrains Mono"/>
              </a:rPr>
              <a:t>V2026 · BUILD 0001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1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8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55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12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69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27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184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41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98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5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13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70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27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4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41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99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56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13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70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27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5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42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99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56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13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71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1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8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55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12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269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27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84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41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98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55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13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27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84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41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299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56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13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70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27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585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042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499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56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413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871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41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98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355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812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9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727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184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641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98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555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013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470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927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384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41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9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6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213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70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7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585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042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499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956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413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871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41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98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355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812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269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727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184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641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098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555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013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470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27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4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841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299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756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213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670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127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585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042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499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956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13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871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41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98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55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812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269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727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84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641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098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555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013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470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927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384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841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299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756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213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670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127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585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042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499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956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413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871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41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98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355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812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269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727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184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641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098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555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013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70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927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84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41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299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756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213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670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9127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9585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042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499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956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1413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1871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41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98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355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812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269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27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3184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641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4098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4555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5013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470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5927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384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6841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299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756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8213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8670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9127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9585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042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499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956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413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871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41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98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355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812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269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727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184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641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098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555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013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470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5927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384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6841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299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7756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213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670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127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585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0042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0499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0956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1413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1871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41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98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355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812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2269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2727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3184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3641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098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555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5013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470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5927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384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6841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7299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7756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8213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8670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127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585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042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499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956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1413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1871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41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898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355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812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2269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2727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3184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3641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4098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555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5013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470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927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6384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6841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7299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7756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8213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8670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9127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9585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042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499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956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413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71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441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898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355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12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2269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2727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3184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3641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4098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4555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5013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5470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5927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6384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6841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7299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7756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8213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8670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9127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9585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0042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499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0956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13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871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441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898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355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812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269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727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3184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3641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4098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4555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013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5470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927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6384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6841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7299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7756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8213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8670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9127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9585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0042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0499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0956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1413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1871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441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898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355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1812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269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727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184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641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098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555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5013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5470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5927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6384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6841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7299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756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8213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8670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9127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9585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0042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0499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0956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1413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11871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441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898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355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812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269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727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184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641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098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555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013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470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5927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384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6841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299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756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213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670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127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585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042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499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956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13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871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731520" y="45720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spc="195">
                <a:solidFill>
                  <a:srgbClr val="8B5CF6"/>
                </a:solidFill>
                <a:latin typeface="Inter"/>
              </a:rPr>
              <a:t>TRUSTED BY 80,000+ TEAMS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731520" y="868680"/>
            <a:ext cx="10725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spc="-20">
                <a:solidFill>
                  <a:srgbClr val="F4F4F6"/>
                </a:solidFill>
                <a:latin typeface="Inter"/>
              </a:rPr>
              <a:t>真实数据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731520" y="1645920"/>
            <a:ext cx="10725912" cy="7315"/>
          </a:xfrm>
          <a:prstGeom prst="rect">
            <a:avLst/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ounded Rectangle 368"/>
          <p:cNvSpPr/>
          <p:nvPr/>
        </p:nvSpPr>
        <p:spPr>
          <a:xfrm>
            <a:off x="731520" y="2103120"/>
            <a:ext cx="3361944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1F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1033272" y="2999232"/>
            <a:ext cx="2758440" cy="728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778" b="1" spc="-95">
                <a:solidFill>
                  <a:srgbClr val="8B5CF6"/>
                </a:solidFill>
                <a:latin typeface="Inter"/>
              </a:rPr>
              <a:t>99.99%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1033272" y="3818900"/>
            <a:ext cx="2758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4F4F6"/>
                </a:solidFill>
                <a:latin typeface="Inter"/>
              </a:rPr>
              <a:t>可用性 SLA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1033272" y="4276100"/>
            <a:ext cx="2758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300" b="0">
                <a:solidFill>
                  <a:srgbClr val="606070"/>
                </a:solidFill>
                <a:latin typeface="Inter"/>
              </a:rPr>
              <a:t>四 9 全球 CDN</a:t>
            </a:r>
          </a:p>
        </p:txBody>
      </p:sp>
      <p:sp>
        <p:nvSpPr>
          <p:cNvPr id="373" name="Rounded Rectangle 372"/>
          <p:cNvSpPr/>
          <p:nvPr/>
        </p:nvSpPr>
        <p:spPr>
          <a:xfrm>
            <a:off x="4413504" y="2103120"/>
            <a:ext cx="3361944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1F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4715256" y="2999232"/>
            <a:ext cx="275844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spc="-96">
                <a:solidFill>
                  <a:srgbClr val="8B5CF6"/>
                </a:solidFill>
                <a:latin typeface="Inter"/>
              </a:rPr>
              <a:t>&lt;50ms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4715256" y="3822191"/>
            <a:ext cx="2758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4F4F6"/>
                </a:solidFill>
                <a:latin typeface="Inter"/>
              </a:rPr>
              <a:t>边缘延迟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4715256" y="4279392"/>
            <a:ext cx="2758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300" b="0">
                <a:solidFill>
                  <a:srgbClr val="606070"/>
                </a:solidFill>
                <a:latin typeface="Inter"/>
              </a:rPr>
              <a:t>270+ 节点</a:t>
            </a:r>
          </a:p>
        </p:txBody>
      </p:sp>
      <p:sp>
        <p:nvSpPr>
          <p:cNvPr id="377" name="Rounded Rectangle 376"/>
          <p:cNvSpPr/>
          <p:nvPr/>
        </p:nvSpPr>
        <p:spPr>
          <a:xfrm>
            <a:off x="8095488" y="2103120"/>
            <a:ext cx="3361944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1F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8397240" y="2999232"/>
            <a:ext cx="275844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spc="-96">
                <a:solidFill>
                  <a:srgbClr val="8B5CF6"/>
                </a:solidFill>
                <a:latin typeface="Inter"/>
              </a:rPr>
              <a:t>12s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8397240" y="3822191"/>
            <a:ext cx="2758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4F4F6"/>
                </a:solidFill>
                <a:latin typeface="Inter"/>
              </a:rPr>
              <a:t>平均部署耗时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8397240" y="4279392"/>
            <a:ext cx="2758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300" b="0">
                <a:solidFill>
                  <a:srgbClr val="606070"/>
                </a:solidFill>
                <a:latin typeface="Inter"/>
              </a:rPr>
              <a:t>git push → live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06070"/>
                </a:solidFill>
                <a:latin typeface="Inter"/>
              </a:rPr>
              <a:t>Cloud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0725911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06070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1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8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55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12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69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27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184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41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98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5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13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70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27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4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41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99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56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13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70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27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5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42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99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56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13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71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1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8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55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12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269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27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84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41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98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55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13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27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84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41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299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56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13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70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27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585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042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499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56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413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871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41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98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355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812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9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727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184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641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98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555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013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470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927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384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41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9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6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213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70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7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585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042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499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956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413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871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41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98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355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812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269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727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184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641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098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555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013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470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27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4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841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299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756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213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670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127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585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042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499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956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13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871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41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98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55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812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269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727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84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641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098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555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013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470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927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384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841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299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756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213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670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127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585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042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499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956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413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871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41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98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355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812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269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727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184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641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098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555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013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70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927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84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41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299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756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213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670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9127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9585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042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499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956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1413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1871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41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98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355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812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269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27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3184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641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4098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4555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5013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470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5927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384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6841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299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756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8213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8670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9127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9585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042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499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956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413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871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41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98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355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812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269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727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184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641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098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555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013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470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5927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384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6841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299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7756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213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670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127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585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0042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0499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0956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1413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1871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41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98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355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812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2269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2727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3184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3641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098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555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5013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470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5927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384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6841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7299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7756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8213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8670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127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585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042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499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956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1413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1871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41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898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355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812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2269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2727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3184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3641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4098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555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5013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470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927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6384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6841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7299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7756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8213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8670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9127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9585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042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499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956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413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71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441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898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355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12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2269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2727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3184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3641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4098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4555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5013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5470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5927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6384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6841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7299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7756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8213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8670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9127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9585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0042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499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0956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13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871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441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898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355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812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269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727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3184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3641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4098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4555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013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5470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927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6384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6841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7299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7756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8213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8670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9127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9585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0042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0499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0956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1413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1871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441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898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355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1812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269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727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184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641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098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555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5013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5470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5927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6384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6841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7299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756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8213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8670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9127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9585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0042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0499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0956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1413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11871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441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898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355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812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269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727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184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641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098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555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013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470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5927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384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6841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299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756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213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670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127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585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042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499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956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13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871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731520" y="45720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spc="195">
                <a:solidFill>
                  <a:srgbClr val="8B5CF6"/>
                </a:solidFill>
                <a:latin typeface="Inter"/>
              </a:rPr>
              <a:t>WHY DEVELOPERS LOVE IT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731520" y="868680"/>
            <a:ext cx="10725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spc="-20">
                <a:solidFill>
                  <a:srgbClr val="F4F4F6"/>
                </a:solidFill>
                <a:latin typeface="Inter"/>
              </a:rPr>
              <a:t>为什么工程师喜欢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731520" y="1645920"/>
            <a:ext cx="10725912" cy="7315"/>
          </a:xfrm>
          <a:prstGeom prst="rect">
            <a:avLst/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731520" y="2148839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731520" y="214883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A0A0F"/>
                </a:solidFill>
                <a:latin typeface="Inter"/>
              </a:rPr>
              <a:t>01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1325880" y="2103120"/>
            <a:ext cx="1013155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spc="-10">
                <a:solidFill>
                  <a:srgbClr val="F4F4F6"/>
                </a:solidFill>
                <a:latin typeface="Inter"/>
              </a:rPr>
              <a:t>零配置 CI/CD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1325880" y="2514600"/>
            <a:ext cx="1013155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9090A0"/>
                </a:solidFill>
                <a:latin typeface="Inter"/>
              </a:rPr>
              <a:t>git push 自动 build + deploy</a:t>
            </a:r>
          </a:p>
        </p:txBody>
      </p:sp>
      <p:sp>
        <p:nvSpPr>
          <p:cNvPr id="373" name="Oval 372"/>
          <p:cNvSpPr/>
          <p:nvPr/>
        </p:nvSpPr>
        <p:spPr>
          <a:xfrm>
            <a:off x="731520" y="3090672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731520" y="30906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A0A0F"/>
                </a:solidFill>
                <a:latin typeface="Inter"/>
              </a:rPr>
              <a:t>02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325880" y="3044952"/>
            <a:ext cx="1013155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spc="-10">
                <a:solidFill>
                  <a:srgbClr val="F4F4F6"/>
                </a:solidFill>
                <a:latin typeface="Inter"/>
              </a:rPr>
              <a:t>预览环境 by 分支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325880" y="3456432"/>
            <a:ext cx="1013155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9090A0"/>
                </a:solidFill>
                <a:latin typeface="Inter"/>
              </a:rPr>
              <a:t>每个 PR 独立域名</a:t>
            </a:r>
          </a:p>
        </p:txBody>
      </p:sp>
      <p:sp>
        <p:nvSpPr>
          <p:cNvPr id="377" name="Oval 376"/>
          <p:cNvSpPr/>
          <p:nvPr/>
        </p:nvSpPr>
        <p:spPr>
          <a:xfrm>
            <a:off x="731520" y="4032504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731520" y="40325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A0A0F"/>
                </a:solidFill>
                <a:latin typeface="Inter"/>
              </a:rPr>
              <a:t>03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325880" y="3986784"/>
            <a:ext cx="1013155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spc="-10">
                <a:solidFill>
                  <a:srgbClr val="F4F4F6"/>
                </a:solidFill>
                <a:latin typeface="Inter"/>
              </a:rPr>
              <a:t>边缘函数原生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1325880" y="4398264"/>
            <a:ext cx="1013155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9090A0"/>
                </a:solidFill>
                <a:latin typeface="Inter"/>
              </a:rPr>
              <a:t>写 JS/TS，全球边缘运行</a:t>
            </a:r>
          </a:p>
        </p:txBody>
      </p:sp>
      <p:sp>
        <p:nvSpPr>
          <p:cNvPr id="381" name="Oval 380"/>
          <p:cNvSpPr/>
          <p:nvPr/>
        </p:nvSpPr>
        <p:spPr>
          <a:xfrm>
            <a:off x="731520" y="4974336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731520" y="49743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A0A0F"/>
                </a:solidFill>
                <a:latin typeface="Inter"/>
              </a:rPr>
              <a:t>04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1325880" y="4928616"/>
            <a:ext cx="1013155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spc="-10">
                <a:solidFill>
                  <a:srgbClr val="F4F4F6"/>
                </a:solidFill>
                <a:latin typeface="Inter"/>
              </a:rPr>
              <a:t>真正的暗夜模式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1325880" y="5340096"/>
            <a:ext cx="1013155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9090A0"/>
                </a:solidFill>
                <a:latin typeface="Inter"/>
              </a:rPr>
              <a:t>仪表盘不刺眼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06070"/>
                </a:solidFill>
                <a:latin typeface="Inter"/>
              </a:rPr>
              <a:t>Cloud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10725911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06070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1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8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55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12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69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27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184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41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98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5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13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70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27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4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41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99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56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13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70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27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5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42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99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56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13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71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1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8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55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12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269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27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84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41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98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55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13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27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84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41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299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56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13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70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27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585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042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499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56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413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871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41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98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355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812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9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727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184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641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98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555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013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470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927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384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41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9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6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213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70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7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585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042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499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956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413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871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41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98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355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812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269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727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184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641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098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555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013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470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27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4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841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299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756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213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670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127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585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042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499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956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13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871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41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98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55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812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269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727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84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641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098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555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013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470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927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384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841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299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756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213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670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127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585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042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499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956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413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871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41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98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355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812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269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727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184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641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098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555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013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70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927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84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41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299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756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213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670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9127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9585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042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499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956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1413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1871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41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98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355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812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269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27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3184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641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4098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4555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5013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470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5927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384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6841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299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756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8213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8670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9127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9585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042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499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956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413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871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41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98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355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812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269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727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184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641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098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555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013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470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5927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384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6841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299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7756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213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670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127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585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0042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0499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0956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1413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1871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41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98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355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812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2269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2727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3184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3641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098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555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5013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470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5927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384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6841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7299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7756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8213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8670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127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585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042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499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956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1413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1871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41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898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355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812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2269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2727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3184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3641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4098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555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5013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470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927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6384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6841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7299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7756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8213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8670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9127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9585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042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499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956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413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71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441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898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355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12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2269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2727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3184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3641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4098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4555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5013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5470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5927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6384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6841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7299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7756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8213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8670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9127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9585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0042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499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0956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13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871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441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898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355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812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269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727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3184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3641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4098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4555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013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5470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927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6384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6841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7299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7756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8213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8670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9127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9585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0042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0499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0956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1413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1871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441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898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355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1812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269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727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184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641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098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555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5013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5470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5927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6384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6841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7299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756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8213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8670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9127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9585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0042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0499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0956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1413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11871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441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898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355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812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269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727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184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641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098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555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013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470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5927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384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6841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299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756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213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670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127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585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042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499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956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13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871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731520" y="45720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spc="195">
                <a:solidFill>
                  <a:srgbClr val="8B5CF6"/>
                </a:solidFill>
                <a:latin typeface="Inter"/>
              </a:rPr>
              <a:t>ONE COMMAND TO SHIP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731520" y="868680"/>
            <a:ext cx="10725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spc="-20">
                <a:solidFill>
                  <a:srgbClr val="F4F4F6"/>
                </a:solidFill>
                <a:latin typeface="Inter"/>
              </a:rPr>
              <a:t>一条命令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731520" y="1645920"/>
            <a:ext cx="10725912" cy="7315"/>
          </a:xfrm>
          <a:prstGeom prst="rect">
            <a:avLst/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ounded Rectangle 368"/>
          <p:cNvSpPr/>
          <p:nvPr/>
        </p:nvSpPr>
        <p:spPr>
          <a:xfrm>
            <a:off x="731520" y="1874519"/>
            <a:ext cx="10725912" cy="3886200"/>
          </a:xfrm>
          <a:prstGeom prst="round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731520" y="2286000"/>
            <a:ext cx="10725912" cy="4572"/>
          </a:xfrm>
          <a:prstGeom prst="rect">
            <a:avLst/>
          </a:prstGeom>
          <a:solidFill>
            <a:srgbClr val="1F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960120" y="2007107"/>
            <a:ext cx="137160" cy="13716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1179576" y="2007107"/>
            <a:ext cx="137160" cy="13716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1399032" y="2007107"/>
            <a:ext cx="137160" cy="13716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1920240" y="1929384"/>
            <a:ext cx="8714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spc="24">
                <a:solidFill>
                  <a:srgbClr val="9090A0"/>
                </a:solidFill>
                <a:latin typeface="JetBrains Mono"/>
              </a:rPr>
              <a:t>~/my-app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0268712" y="19476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spc="165">
                <a:solidFill>
                  <a:srgbClr val="606070"/>
                </a:solidFill>
                <a:latin typeface="JetBrains Mono"/>
              </a:rPr>
              <a:t>SHELL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960120" y="24231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303040"/>
                </a:solidFill>
                <a:latin typeface="JetBrains Mono"/>
              </a:rPr>
              <a:t>1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1508760" y="24231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F4F4F6"/>
                </a:solidFill>
                <a:latin typeface="JetBrains Mono"/>
              </a:rPr>
              <a:t>$ git push origin main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960120" y="26898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303040"/>
                </a:solidFill>
                <a:latin typeface="JetBrains Mono"/>
              </a:rPr>
              <a:t>2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508760" y="26898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</a:p>
        </p:txBody>
      </p:sp>
      <p:sp>
        <p:nvSpPr>
          <p:cNvPr id="380" name="TextBox 379"/>
          <p:cNvSpPr txBox="1"/>
          <p:nvPr/>
        </p:nvSpPr>
        <p:spPr>
          <a:xfrm>
            <a:off x="960120" y="29565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303040"/>
                </a:solidFill>
                <a:latin typeface="JetBrains Mono"/>
              </a:rPr>
              <a:t>3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508760" y="29565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F4F4F6"/>
                </a:solidFill>
                <a:latin typeface="JetBrains Mono"/>
              </a:rPr>
              <a:t>→ Detected: Next.js 14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960120" y="32232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303040"/>
                </a:solidFill>
                <a:latin typeface="JetBrains Mono"/>
              </a:rPr>
              <a:t>4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1508760" y="32232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F4F4F6"/>
                </a:solidFill>
                <a:latin typeface="JetBrains Mono"/>
              </a:rPr>
              <a:t>→ Building... ✓ 8.2s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960120" y="34899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303040"/>
                </a:solidFill>
                <a:latin typeface="JetBrains Mono"/>
              </a:rPr>
              <a:t>5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1508760" y="34899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F4F4F6"/>
                </a:solidFill>
                <a:latin typeface="JetBrains Mono"/>
              </a:rPr>
              <a:t>→ Deploying to edge...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960120" y="37566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303040"/>
                </a:solidFill>
                <a:latin typeface="JetBrains Mono"/>
              </a:rPr>
              <a:t>6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508760" y="37566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F4F4F6"/>
                </a:solidFill>
                <a:latin typeface="JetBrains Mono"/>
              </a:rPr>
              <a:t>→ Live: https:</a:t>
            </a:r>
            <a:r>
              <a:rPr sz="1400" i="1">
                <a:solidFill>
                  <a:srgbClr val="606070"/>
                </a:solidFill>
                <a:latin typeface="JetBrains Mono"/>
              </a:rPr>
              <a:t>//my-app.vercel.app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960120" y="40233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303040"/>
                </a:solidFill>
                <a:latin typeface="JetBrains Mono"/>
              </a:rPr>
              <a:t>7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1508760" y="40233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</a:p>
        </p:txBody>
      </p:sp>
      <p:sp>
        <p:nvSpPr>
          <p:cNvPr id="390" name="TextBox 389"/>
          <p:cNvSpPr txBox="1"/>
          <p:nvPr/>
        </p:nvSpPr>
        <p:spPr>
          <a:xfrm>
            <a:off x="960120" y="42900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303040"/>
                </a:solidFill>
                <a:latin typeface="JetBrains Mono"/>
              </a:rPr>
              <a:t>8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508760" y="42900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F4F4F6"/>
                </a:solidFill>
                <a:latin typeface="JetBrains Mono"/>
              </a:rPr>
              <a:t>Deployment</a:t>
            </a:r>
            <a:r>
              <a:rPr sz="1400">
                <a:solidFill>
                  <a:srgbClr val="F4F4F6"/>
                </a:solidFill>
                <a:latin typeface="JetBrains Mono"/>
              </a:rPr>
              <a:t> completed in 12s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731520" y="6080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06070"/>
                </a:solidFill>
                <a:latin typeface="Inter"/>
              </a:rPr>
              <a:t>没有 YAML，没有 Docker，没有 kubectl。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06070"/>
                </a:solidFill>
                <a:latin typeface="Inter"/>
              </a:rPr>
              <a:t>Cloud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0725911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06070"/>
                </a:solidFill>
                <a:latin typeface="Inter"/>
              </a:rPr>
              <a:t>04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7799831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spc="135">
                <a:solidFill>
                  <a:srgbClr val="606070"/>
                </a:solidFill>
                <a:latin typeface="JetBrains Mono"/>
              </a:rPr>
              <a:t>V2026 · BUILD 0001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1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8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55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12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69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27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184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41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98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5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13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70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27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4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41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99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56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13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70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27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5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42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99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56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13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71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1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8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55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12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269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27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84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41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98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55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13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27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84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41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299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56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13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70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27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585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042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499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56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413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871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41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98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355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812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9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727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184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641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98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555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013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470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927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384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41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9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6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213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70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7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585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042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499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956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413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871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41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98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355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812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269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727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184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641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098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555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013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470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27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4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841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299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756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213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670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127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585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042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499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956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13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871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41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98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55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812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269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727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84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641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098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555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013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470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927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384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841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299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756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213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670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127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585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042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499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956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413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871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41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98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355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812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269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727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184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641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098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555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013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70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927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84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41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299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756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213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670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9127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9585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042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499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956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1413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1871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41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98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355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812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269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27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3184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641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4098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4555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5013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470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5927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384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6841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299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756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8213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8670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9127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9585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042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499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956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413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871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41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98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355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812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269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727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184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641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098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555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013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470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5927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384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6841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299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7756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213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670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127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585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0042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0499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0956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1413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1871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41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98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355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812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2269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2727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3184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3641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098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555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5013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470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5927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384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6841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7299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7756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8213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8670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127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585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042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499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956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1413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1871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41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898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355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812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2269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2727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3184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3641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4098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555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5013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470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927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6384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6841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7299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7756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8213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8670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9127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9585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042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499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956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413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71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441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898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355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12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2269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2727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3184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3641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4098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4555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5013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5470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5927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6384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6841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7299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7756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8213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8670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9127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9585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0042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499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0956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13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871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441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898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355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812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269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727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3184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3641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4098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4555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013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5470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927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6384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6841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7299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7756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8213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8670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9127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9585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0042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0499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0956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1413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1871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441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898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355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1812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269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727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184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641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098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555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5013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5470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5927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6384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6841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7299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756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8213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8670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9127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9585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0042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0499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0956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1413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11871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441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898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355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812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269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727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184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641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098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555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013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470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5927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384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6841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299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756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213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670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127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585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042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499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956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13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871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731520" y="45720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spc="195">
                <a:solidFill>
                  <a:srgbClr val="8B5CF6"/>
                </a:solidFill>
                <a:latin typeface="Inter"/>
              </a:rPr>
              <a:t>TRADITIONAL VS MODERN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731520" y="868680"/>
            <a:ext cx="10725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spc="-20">
                <a:solidFill>
                  <a:srgbClr val="F4F4F6"/>
                </a:solidFill>
                <a:latin typeface="Inter"/>
              </a:rPr>
              <a:t>对比传统 IaaS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731520" y="1645920"/>
            <a:ext cx="10725912" cy="7315"/>
          </a:xfrm>
          <a:prstGeom prst="rect">
            <a:avLst/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ounded Rectangle 368"/>
          <p:cNvSpPr/>
          <p:nvPr/>
        </p:nvSpPr>
        <p:spPr>
          <a:xfrm>
            <a:off x="731520" y="2103120"/>
            <a:ext cx="5202936" cy="39776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1F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1124712" y="2423160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79">
                <a:solidFill>
                  <a:srgbClr val="606070"/>
                </a:solidFill>
                <a:latin typeface="Inter"/>
              </a:rPr>
              <a:t>LEGACY IAAS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1124712" y="2743200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spc="-12">
                <a:solidFill>
                  <a:srgbClr val="F4F4F6"/>
                </a:solidFill>
                <a:latin typeface="Inter"/>
              </a:rPr>
              <a:t>传统云服务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1124712" y="3291840"/>
            <a:ext cx="365760" cy="18288"/>
          </a:xfrm>
          <a:prstGeom prst="rect">
            <a:avLst/>
          </a:prstGeom>
          <a:solidFill>
            <a:srgbClr val="1F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1124712" y="352044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9090A0"/>
                </a:solidFill>
                <a:latin typeface="Inter"/>
              </a:rPr>
              <a:t>·  配置 YAML 8 小时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1124712" y="393192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9090A0"/>
                </a:solidFill>
                <a:latin typeface="Inter"/>
              </a:rPr>
              <a:t>·  跨区域手动同步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124712" y="434340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9090A0"/>
                </a:solidFill>
                <a:latin typeface="Inter"/>
              </a:rPr>
              <a:t>·  HTTPS 证书手动续费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124712" y="475488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9090A0"/>
                </a:solidFill>
                <a:latin typeface="Inter"/>
              </a:rPr>
              <a:t>·  监控需额外搭</a:t>
            </a:r>
          </a:p>
        </p:txBody>
      </p:sp>
      <p:sp>
        <p:nvSpPr>
          <p:cNvPr id="377" name="Rounded Rectangle 376"/>
          <p:cNvSpPr/>
          <p:nvPr/>
        </p:nvSpPr>
        <p:spPr>
          <a:xfrm>
            <a:off x="6254496" y="2103120"/>
            <a:ext cx="5202936" cy="3977639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6647688" y="2423160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79">
                <a:solidFill>
                  <a:srgbClr val="8B5CF6"/>
                </a:solidFill>
                <a:latin typeface="Inter"/>
              </a:rPr>
              <a:t>CLOUD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6647688" y="2743200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spc="-12">
                <a:solidFill>
                  <a:srgbClr val="F4F4F6"/>
                </a:solidFill>
                <a:latin typeface="Inter"/>
              </a:rPr>
              <a:t>Modern Cloud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6647688" y="3291840"/>
            <a:ext cx="36576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6647688" y="352044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F4F4F6"/>
                </a:solidFill>
                <a:latin typeface="Inter"/>
              </a:rPr>
              <a:t>·  零配置自动部署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6647688" y="393192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F4F4F6"/>
                </a:solidFill>
                <a:latin typeface="Inter"/>
              </a:rPr>
              <a:t>·  全球边缘自动分发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6647688" y="434340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F4F4F6"/>
                </a:solidFill>
                <a:latin typeface="Inter"/>
              </a:rPr>
              <a:t>·  证书自动签发续期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6647688" y="475488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F4F4F6"/>
                </a:solidFill>
                <a:latin typeface="Inter"/>
              </a:rPr>
              <a:t>·  可观测性开箱即用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06070"/>
                </a:solidFill>
                <a:latin typeface="Inter"/>
              </a:rPr>
              <a:t>Cloud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10725911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06070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1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8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55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12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69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27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184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41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98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5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13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70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27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4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41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99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56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13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70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27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5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42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99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56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13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71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1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8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55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12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269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27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84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41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98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55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13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27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84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41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299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56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13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70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27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585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042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499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56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413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871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41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98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355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812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9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727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184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641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98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555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013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470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927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384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41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9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6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213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70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7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585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042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499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956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413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871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41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98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355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812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269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727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184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641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098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555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013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470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27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4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841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299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756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213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670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127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585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042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499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956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13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871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41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98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55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812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269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727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84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641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098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555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013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470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927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384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841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299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756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213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670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127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585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042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499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956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413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871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41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98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355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812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269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727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184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641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098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555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013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70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927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84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41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299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756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213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670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9127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9585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042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499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956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1413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1871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41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98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355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812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269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27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3184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641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4098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4555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5013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470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5927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384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6841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299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756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8213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8670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9127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9585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042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499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956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413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871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41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98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355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812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269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727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184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641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098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555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013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470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5927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384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6841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299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7756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213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670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127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585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0042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0499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0956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1413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1871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41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98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355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812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2269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2727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3184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3641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098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555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5013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470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5927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384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6841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7299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7756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8213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8670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127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585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042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499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956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1413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1871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41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898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355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812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2269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2727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3184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3641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4098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555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5013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470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927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6384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6841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7299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7756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8213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8670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9127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9585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042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499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956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413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71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441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898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355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12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2269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2727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3184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3641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4098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4555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5013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5470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5927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6384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6841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7299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7756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8213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8670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9127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9585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0042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499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0956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13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871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441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898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355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812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269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727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3184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3641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4098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4555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013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5470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927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6384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6841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7299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7756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8213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8670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9127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9585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0042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0499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0956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1413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1871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441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898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355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1812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269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727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184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641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098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555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5013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5470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5927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6384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6841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7299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756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8213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8670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9127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9585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0042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0499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0956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1413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11871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441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898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355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812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269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727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184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641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098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555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013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470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5927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384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6841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299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756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213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670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127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585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042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499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956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13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871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731520" y="45720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spc="195">
                <a:solidFill>
                  <a:srgbClr val="8B5CF6"/>
                </a:solidFill>
                <a:latin typeface="Inter"/>
              </a:rPr>
              <a:t>FROM COMMIT TO LIVE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731520" y="868680"/>
            <a:ext cx="10725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spc="-20">
                <a:solidFill>
                  <a:srgbClr val="F4F4F6"/>
                </a:solidFill>
                <a:latin typeface="Inter"/>
              </a:rPr>
              <a:t>上线轨迹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731520" y="1645920"/>
            <a:ext cx="10725912" cy="7315"/>
          </a:xfrm>
          <a:prstGeom prst="rect">
            <a:avLst/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731520" y="3863339"/>
            <a:ext cx="10725911" cy="13716"/>
          </a:xfrm>
          <a:prstGeom prst="rect">
            <a:avLst/>
          </a:prstGeom>
          <a:solidFill>
            <a:srgbClr val="1F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594360" y="3726179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-457200" y="33604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spc="65">
                <a:solidFill>
                  <a:srgbClr val="8B5CF6"/>
                </a:solidFill>
                <a:latin typeface="Inter"/>
              </a:rPr>
              <a:t>0s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-457200" y="276605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4F4F6"/>
                </a:solidFill>
                <a:latin typeface="Inter"/>
              </a:rPr>
              <a:t>git push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-457200" y="22174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200" b="0">
                <a:solidFill>
                  <a:srgbClr val="606070"/>
                </a:solidFill>
                <a:latin typeface="Inter"/>
              </a:rPr>
              <a:t>你敲下回车</a:t>
            </a:r>
          </a:p>
        </p:txBody>
      </p:sp>
      <p:sp>
        <p:nvSpPr>
          <p:cNvPr id="374" name="Oval 373"/>
          <p:cNvSpPr/>
          <p:nvPr/>
        </p:nvSpPr>
        <p:spPr>
          <a:xfrm>
            <a:off x="4169663" y="3726179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3118103" y="40919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spc="65">
                <a:solidFill>
                  <a:srgbClr val="8B5CF6"/>
                </a:solidFill>
                <a:latin typeface="Inter"/>
              </a:rPr>
              <a:t>2s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3118103" y="45034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4F4F6"/>
                </a:solidFill>
                <a:latin typeface="Inter"/>
              </a:rPr>
              <a:t>Build 启动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3118103" y="5052059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200" b="0">
                <a:solidFill>
                  <a:srgbClr val="606070"/>
                </a:solidFill>
                <a:latin typeface="Inter"/>
              </a:rPr>
              <a:t>构建容器冷启动</a:t>
            </a:r>
          </a:p>
        </p:txBody>
      </p:sp>
      <p:sp>
        <p:nvSpPr>
          <p:cNvPr id="378" name="Oval 377"/>
          <p:cNvSpPr/>
          <p:nvPr/>
        </p:nvSpPr>
        <p:spPr>
          <a:xfrm>
            <a:off x="7744967" y="3726179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6693407" y="33604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spc="65">
                <a:solidFill>
                  <a:srgbClr val="8B5CF6"/>
                </a:solidFill>
                <a:latin typeface="Inter"/>
              </a:rPr>
              <a:t>10s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6693407" y="276605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4F4F6"/>
                </a:solidFill>
                <a:latin typeface="Inter"/>
              </a:rPr>
              <a:t>构建完成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6693407" y="22174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200" b="0">
                <a:solidFill>
                  <a:srgbClr val="606070"/>
                </a:solidFill>
                <a:latin typeface="Inter"/>
              </a:rPr>
              <a:t>静态资源 + 函数打包</a:t>
            </a:r>
          </a:p>
        </p:txBody>
      </p:sp>
      <p:sp>
        <p:nvSpPr>
          <p:cNvPr id="382" name="Oval 381"/>
          <p:cNvSpPr/>
          <p:nvPr/>
        </p:nvSpPr>
        <p:spPr>
          <a:xfrm>
            <a:off x="11320272" y="3726179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10268711" y="40919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spc="65">
                <a:solidFill>
                  <a:srgbClr val="8B5CF6"/>
                </a:solidFill>
                <a:latin typeface="Inter"/>
              </a:rPr>
              <a:t>12s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10268711" y="45034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4F4F6"/>
                </a:solidFill>
                <a:latin typeface="Inter"/>
              </a:rPr>
              <a:t>边缘生效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10268711" y="5052059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200" b="0">
                <a:solidFill>
                  <a:srgbClr val="606070"/>
                </a:solidFill>
                <a:latin typeface="Inter"/>
              </a:rPr>
              <a:t>270+ 节点同步完成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06070"/>
                </a:solidFill>
                <a:latin typeface="Inter"/>
              </a:rPr>
              <a:t>Cloud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0725911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06070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1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8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55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12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69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27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184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41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98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5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13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70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27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4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41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99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56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13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70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27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5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423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995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567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139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71198" y="441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1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8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55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12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269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27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84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41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98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55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13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27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84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41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299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56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13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70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27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585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0423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4995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567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4139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871198" y="898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41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98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355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812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9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727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184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641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98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555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013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470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927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384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41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9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6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213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70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7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585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0423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4995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9567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4139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871198" y="1355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41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98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355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812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269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727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184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641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098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555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013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470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27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4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841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299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756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213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670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127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585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0423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4995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9567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139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871198" y="1812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41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98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55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812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269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727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84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641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098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555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013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470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927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384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841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299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756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213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670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127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585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0423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4995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9567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4139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871198" y="2269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41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98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355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812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269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727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184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641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098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555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013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70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927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84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41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299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756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213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670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9127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9585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0423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4995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9567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14139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1871198" y="2727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41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98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355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812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269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27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3184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641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4098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4555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5013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470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5927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384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6841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299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756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8213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8670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9127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9585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0423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4995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9567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4139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871198" y="3184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41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98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355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812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269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727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184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641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098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555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013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470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5927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384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6841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299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7756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213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670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127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585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00423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04995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09567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14139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1871198" y="3641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41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98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355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812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2269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2727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3184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3641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098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555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5013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470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5927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384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6841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7299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7756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8213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8670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127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585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0423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4995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9567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14139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1871198" y="4098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41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898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355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812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2269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2727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3184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3641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4098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555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5013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470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927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6384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6841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7299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7756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8213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8670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9127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9585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0423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4995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9567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4139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71198" y="45559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441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898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355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12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2269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2727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3184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3641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4098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4555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5013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5470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5927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6384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6841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7299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7756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8213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8670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9127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9585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00423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4995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09567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139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871198" y="50131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441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898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355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812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269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727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3184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3641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4098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4555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013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5470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927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6384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6841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7299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7756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8213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8670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9127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9585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00423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04995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09567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14139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1871198" y="54703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441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898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355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1812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269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727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184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641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098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555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5013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5470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5927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6384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6841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7299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756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8213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8670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9127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9585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00423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04995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09567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14139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11871198" y="59275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441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898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355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812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269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727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184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641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098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555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013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470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5927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384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6841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299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756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213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670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127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585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0423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4995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9567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139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871198" y="6384798"/>
            <a:ext cx="32004" cy="32004"/>
          </a:xfrm>
          <a:prstGeom prst="ellipse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914400" y="2606040"/>
            <a:ext cx="10360152" cy="2400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200" b="1" spc="-204">
                <a:solidFill>
                  <a:srgbClr val="F4F4F6"/>
                </a:solidFill>
                <a:latin typeface="Inter"/>
              </a:rPr>
              <a:t>Deploy now.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914400" y="4290060"/>
            <a:ext cx="103601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 spc="-16">
                <a:solidFill>
                  <a:srgbClr val="9090A0"/>
                </a:solidFill>
                <a:latin typeface="Inter"/>
              </a:rPr>
              <a:t>免费 hobby 计划，永久可用。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914400" y="511302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spc="72">
                <a:solidFill>
                  <a:srgbClr val="8B5CF6"/>
                </a:solidFill>
                <a:latin typeface="Inter"/>
              </a:rPr>
              <a:t>cloud.dev/signup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06070"/>
                </a:solidFill>
                <a:latin typeface="Inter"/>
              </a:rPr>
              <a:t>Cloud · 2026 · Made in SF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