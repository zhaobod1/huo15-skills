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spc="320">
                <a:solidFill>
                  <a:srgbClr val="0A84FF"/>
                </a:solidFill>
                <a:latin typeface="SF Pro Text"/>
              </a:rPr>
              <a:t>INTRODUCING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63140"/>
            <a:ext cx="999439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753" b="1" spc="-382">
                <a:solidFill>
                  <a:srgbClr val="F5F5F7"/>
                </a:solidFill>
                <a:latin typeface="SF Pro Display"/>
              </a:rPr>
              <a:t>M4 Ultra.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68772"/>
            <a:ext cx="9994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0" spc="-48">
                <a:solidFill>
                  <a:srgbClr val="A1A1A6"/>
                </a:solidFill>
                <a:latin typeface="SF Pro Display"/>
              </a:rPr>
              <a:t>地球上最强的芯片。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21792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B"/>
                </a:solidFill>
                <a:latin typeface="SF Pro Text"/>
              </a:rPr>
              <a:t>Apple · Cupertino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25600"/>
            <a:ext cx="9994392" cy="115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spc="-152">
                <a:solidFill>
                  <a:srgbClr val="0A84FF"/>
                </a:solidFill>
                <a:latin typeface="SF Pro Display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66720"/>
            <a:ext cx="999439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0" b="1" spc="-192">
                <a:solidFill>
                  <a:srgbClr val="F5F5F7"/>
                </a:solidFill>
                <a:latin typeface="SF Pro Display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21200"/>
            <a:ext cx="9994392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0">
                <a:solidFill>
                  <a:srgbClr val="A1A1A6"/>
                </a:solidFill>
                <a:latin typeface="SF Pro Display"/>
              </a:rPr>
              <a:t>性能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2956" y="5760720"/>
            <a:ext cx="1463040" cy="228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34439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spc="320">
                <a:solidFill>
                  <a:srgbClr val="0A84FF"/>
                </a:solidFill>
                <a:latin typeface="SF Pro Text"/>
              </a:rPr>
              <a:t>CPU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74519"/>
            <a:ext cx="9994392" cy="2956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20243" b="1" spc="-809">
                <a:solidFill>
                  <a:srgbClr val="0A84FF"/>
                </a:solidFill>
                <a:latin typeface="SF Pro Display"/>
              </a:rPr>
              <a:t>2x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68240"/>
            <a:ext cx="9994392" cy="792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spc="-48">
                <a:solidFill>
                  <a:srgbClr val="A1A1A6"/>
                </a:solidFill>
                <a:latin typeface="SF Pro Display"/>
              </a:rPr>
              <a:t>比 M3 Ultra 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6868B"/>
                </a:solidFill>
                <a:latin typeface="SF Pro Text"/>
              </a:rPr>
              <a:t>基于实际应用工作负载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spc="-48">
                <a:solidFill>
                  <a:srgbClr val="F5F5F7"/>
                </a:solidFill>
                <a:latin typeface="SF Pro Display"/>
              </a:rPr>
              <a:t>重要数字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192">
                <a:solidFill>
                  <a:srgbClr val="86868B"/>
                </a:solidFill>
                <a:latin typeface="SF Pro Text"/>
              </a:rP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39112"/>
            <a:ext cx="3374136" cy="32004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2935224"/>
            <a:ext cx="2770632" cy="94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0" b="1" spc="-124">
                <a:solidFill>
                  <a:srgbClr val="0A84FF"/>
                </a:solidFill>
                <a:latin typeface="SF Pro Display"/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3971543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5F5F7"/>
                </a:solidFill>
                <a:latin typeface="SF Pro Display"/>
              </a:rPr>
              <a:t>GB 统一内存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4428744"/>
            <a:ext cx="2770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86868B"/>
                </a:solidFill>
                <a:latin typeface="SF Pro Text"/>
              </a:rPr>
              <a:t>整张内存池共享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2039112"/>
            <a:ext cx="3374136" cy="32004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935224"/>
            <a:ext cx="2770632" cy="94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0" b="1" spc="-124">
                <a:solidFill>
                  <a:srgbClr val="0A84FF"/>
                </a:solidFill>
                <a:latin typeface="SF Pro Display"/>
              </a:rPr>
              <a:t>80B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971543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5F5F7"/>
                </a:solidFill>
                <a:latin typeface="SF Pro Display"/>
              </a:rPr>
              <a:t>晶体管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4428744"/>
            <a:ext cx="2770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86868B"/>
                </a:solidFill>
                <a:latin typeface="SF Pro Text"/>
              </a:rPr>
              <a:t>3nm 工艺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039112"/>
            <a:ext cx="3374136" cy="32004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2935224"/>
            <a:ext cx="2770632" cy="94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0" b="1" spc="-124">
                <a:solidFill>
                  <a:srgbClr val="0A84FF"/>
                </a:solidFill>
                <a:latin typeface="SF Pro Display"/>
              </a:rPr>
              <a:t>4TB/s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3971543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5F5F7"/>
                </a:solidFill>
                <a:latin typeface="SF Pro Display"/>
              </a:rPr>
              <a:t>内存带宽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4428744"/>
            <a:ext cx="2770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86868B"/>
                </a:solidFill>
                <a:latin typeface="SF Pro Text"/>
              </a:rPr>
              <a:t>AI 推理飞起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13716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0" b="1">
                <a:solidFill>
                  <a:srgbClr val="0A84FF"/>
                </a:solidFill>
                <a:latin typeface="SF Pro Display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00300"/>
            <a:ext cx="999439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 spc="-52">
                <a:solidFill>
                  <a:srgbClr val="F5F5F7"/>
                </a:solidFill>
                <a:latin typeface="SF Pro Display"/>
              </a:rPr>
              <a:t>One more thing…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5349240"/>
            <a:ext cx="457200" cy="1828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SF Pro Display"/>
              </a:rPr>
              <a:t>— Tim Cook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897880"/>
            <a:ext cx="9994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SF Pro Text"/>
              </a:rPr>
              <a:t>Apple CEO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57400"/>
            <a:ext cx="9994392" cy="2400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282" b="1" spc="-218">
                <a:solidFill>
                  <a:srgbClr val="F5F5F7"/>
                </a:solidFill>
                <a:latin typeface="SF Pro Display"/>
              </a:rPr>
              <a:t>Available today.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59669"/>
            <a:ext cx="99943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0" spc="-40">
                <a:solidFill>
                  <a:srgbClr val="A1A1A6"/>
                </a:solidFill>
                <a:latin typeface="SF Pro Display"/>
              </a:rPr>
              <a:t>即刻可购买。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82629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spc="78">
                <a:solidFill>
                  <a:srgbClr val="0A84FF"/>
                </a:solidFill>
                <a:latin typeface="SF Pro Display"/>
              </a:rPr>
              <a:t>apple.com/store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21792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B"/>
                </a:solidFill>
                <a:latin typeface="SF Pro Text"/>
              </a:rPr>
              <a:t>Apple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