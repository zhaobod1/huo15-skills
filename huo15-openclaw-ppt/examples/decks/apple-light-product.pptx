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spc="75">
                <a:solidFill>
                  <a:srgbClr val="0071E3"/>
                </a:solidFill>
                <a:latin typeface="SF Pro Text"/>
              </a:rPr>
              <a:t>OpenClaw Enhance v2026.4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63140"/>
            <a:ext cx="103601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157" b="1" spc="-203">
                <a:solidFill>
                  <a:srgbClr val="1D1D1F"/>
                </a:solidFill>
                <a:latin typeface="SF Pro Display"/>
              </a:rPr>
              <a:t>给龙虾装上翅膀。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09959"/>
            <a:ext cx="103601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0" spc="-44">
                <a:solidFill>
                  <a:srgbClr val="424245"/>
                </a:solidFill>
                <a:latin typeface="SF Pro Display"/>
              </a:rPr>
              <a:t>让 Claude 更懂你的代码库。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E6E73"/>
                </a:solidFill>
                <a:latin typeface="SF Pro Text"/>
              </a:rPr>
              <a:t>huo15.com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spc="-44">
                <a:solidFill>
                  <a:srgbClr val="1D1D1F"/>
                </a:solidFill>
                <a:latin typeface="SF Pro Display"/>
              </a:rPr>
              <a:t>四大增强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spc="15">
                <a:solidFill>
                  <a:srgbClr val="6E6E73"/>
                </a:solidFill>
                <a:latin typeface="SF Pro Text"/>
              </a:rPr>
              <a:t>Four enhancements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2084831"/>
            <a:ext cx="365760" cy="3657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84831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F Pro Display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39112"/>
            <a:ext cx="1013155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spc="-21">
                <a:solidFill>
                  <a:srgbClr val="1D1D1F"/>
                </a:solidFill>
                <a:latin typeface="SF Pro Display"/>
              </a:rPr>
              <a:t>结构化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450592"/>
            <a:ext cx="10131551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24245"/>
                </a:solidFill>
                <a:latin typeface="SF Pro Text"/>
              </a:rPr>
              <a:t>分层、可查询、不污染 context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026663"/>
            <a:ext cx="365760" cy="3657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026663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F Pro Display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980944"/>
            <a:ext cx="1013155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spc="-21">
                <a:solidFill>
                  <a:srgbClr val="1D1D1F"/>
                </a:solidFill>
                <a:latin typeface="SF Pro Display"/>
              </a:rPr>
              <a:t>Project Profiles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392424"/>
            <a:ext cx="10131551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24245"/>
                </a:solidFill>
                <a:latin typeface="SF Pro Text"/>
              </a:rPr>
              <a:t>per-repo 规则与提示词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68496"/>
            <a:ext cx="365760" cy="3657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6849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F Pro Display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922776"/>
            <a:ext cx="1013155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spc="-21">
                <a:solidFill>
                  <a:srgbClr val="1D1D1F"/>
                </a:solidFill>
                <a:latin typeface="SF Pro Display"/>
              </a:rPr>
              <a:t>Skill Ecosystem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334256"/>
            <a:ext cx="10131551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24245"/>
                </a:solidFill>
                <a:latin typeface="SF Pro Text"/>
              </a:rPr>
              <a:t>接入 @huo15/wecom 等插件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910328"/>
            <a:ext cx="365760" cy="3657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9103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F Pro Display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864608"/>
            <a:ext cx="1013155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spc="-21">
                <a:solidFill>
                  <a:srgbClr val="1D1D1F"/>
                </a:solidFill>
                <a:latin typeface="SF Pro Display"/>
              </a:rPr>
              <a:t>Design Packs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276088"/>
            <a:ext cx="10131551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24245"/>
                </a:solidFill>
                <a:latin typeface="SF Pro Text"/>
              </a:rPr>
              <a:t>4 种审美开箱即用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SF Pro Text"/>
              </a:rPr>
              <a:t>青岛火一五信息科技有限公司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5911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SF Pro Text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spc="-44">
                <a:solidFill>
                  <a:srgbClr val="1D1D1F"/>
                </a:solidFill>
                <a:latin typeface="SF Pro Display"/>
              </a:rPr>
              <a:t>真实收益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spc="15">
                <a:solidFill>
                  <a:srgbClr val="6E6E73"/>
                </a:solidFill>
                <a:latin typeface="SF Pro Text"/>
              </a:rPr>
              <a:t>Real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39112"/>
            <a:ext cx="3374136" cy="3200400"/>
          </a:xfrm>
          <a:prstGeom prst="round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" y="2935224"/>
            <a:ext cx="2770632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spc="-96">
                <a:solidFill>
                  <a:srgbClr val="0071E3"/>
                </a:solidFill>
                <a:latin typeface="SF Pro Display"/>
              </a:rPr>
              <a:t>60%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" y="3758183"/>
            <a:ext cx="27706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1D1D1F"/>
                </a:solidFill>
                <a:latin typeface="SF Pro Display"/>
              </a:rPr>
              <a:t>上下文节约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4215383"/>
            <a:ext cx="2770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6E6E73"/>
                </a:solidFill>
                <a:latin typeface="SF Pro Text"/>
              </a:rPr>
              <a:t>memory 分层带来的节省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7" y="2039112"/>
            <a:ext cx="3374136" cy="3200400"/>
          </a:xfrm>
          <a:prstGeom prst="round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2935224"/>
            <a:ext cx="2770632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spc="-96">
                <a:solidFill>
                  <a:srgbClr val="0071E3"/>
                </a:solidFill>
                <a:latin typeface="SF Pro Display"/>
              </a:rPr>
              <a:t>3x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3758183"/>
            <a:ext cx="27706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1D1D1F"/>
                </a:solidFill>
                <a:latin typeface="SF Pro Display"/>
              </a:rPr>
              <a:t>开发效率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4215383"/>
            <a:ext cx="2770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6E6E73"/>
                </a:solidFill>
                <a:latin typeface="SF Pro Text"/>
              </a:rPr>
              <a:t>规则复用减少重复沟通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2039112"/>
            <a:ext cx="3374136" cy="3200400"/>
          </a:xfrm>
          <a:prstGeom prst="round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2935224"/>
            <a:ext cx="2770632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spc="-96">
                <a:solidFill>
                  <a:srgbClr val="0071E3"/>
                </a:solidFill>
                <a:latin typeface="SF Pro Display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3758183"/>
            <a:ext cx="27706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1D1D1F"/>
                </a:solidFill>
                <a:latin typeface="SF Pro Display"/>
              </a:rPr>
              <a:t>学习曲线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4215383"/>
            <a:ext cx="2770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6E6E73"/>
                </a:solidFill>
                <a:latin typeface="SF Pro Text"/>
              </a:rPr>
              <a:t>约定大于配置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SF Pro Text"/>
              </a:rPr>
              <a:t>青岛火一五信息科技有限公司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5911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SF Pro Text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spc="-44">
                <a:solidFill>
                  <a:srgbClr val="1D1D1F"/>
                </a:solidFill>
                <a:latin typeface="SF Pro Display"/>
              </a:rPr>
              <a:t>对比原版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spc="15">
                <a:solidFill>
                  <a:srgbClr val="6E6E73"/>
                </a:solidFill>
                <a:latin typeface="SF Pro Text"/>
              </a:rPr>
              <a:t>Before vs After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39112"/>
            <a:ext cx="5212080" cy="4023359"/>
          </a:xfrm>
          <a:prstGeom prst="round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" y="2359152"/>
            <a:ext cx="44256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60">
                <a:solidFill>
                  <a:srgbClr val="6E6E73"/>
                </a:solidFill>
                <a:latin typeface="SF Pro Text"/>
              </a:rPr>
              <a:t>VANILLA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2679192"/>
            <a:ext cx="44256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spc="-25">
                <a:solidFill>
                  <a:srgbClr val="1D1D1F"/>
                </a:solidFill>
                <a:latin typeface="SF Pro Display"/>
              </a:rPr>
              <a:t>原版 Claude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4712" y="3227832"/>
            <a:ext cx="365760" cy="18288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3456432"/>
            <a:ext cx="4425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424245"/>
                </a:solidFill>
                <a:latin typeface="SF Pro Text"/>
              </a:rPr>
              <a:t>·  CLAUDE.md 一锅粥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3867911"/>
            <a:ext cx="4425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424245"/>
                </a:solidFill>
                <a:latin typeface="SF Pro Text"/>
              </a:rPr>
              <a:t>·  规则要反复重复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4279392"/>
            <a:ext cx="4425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424245"/>
                </a:solidFill>
                <a:latin typeface="SF Pro Text"/>
              </a:rPr>
              <a:t>·  没有插件生态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2039112"/>
            <a:ext cx="5212080" cy="4023359"/>
          </a:xfrm>
          <a:prstGeom prst="roundRect">
            <a:avLst/>
          </a:prstGeom>
          <a:solidFill>
            <a:srgbClr val="E6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38544" y="2359152"/>
            <a:ext cx="44256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60">
                <a:solidFill>
                  <a:srgbClr val="0071E3"/>
                </a:solidFill>
                <a:latin typeface="SF Pro Text"/>
              </a:rPr>
              <a:t>ENHANCED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544" y="2679192"/>
            <a:ext cx="44256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spc="-25">
                <a:solidFill>
                  <a:srgbClr val="1D1D1F"/>
                </a:solidFill>
                <a:latin typeface="SF Pro Display"/>
              </a:rPr>
              <a:t>OpenClaw Enhance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38544" y="3227832"/>
            <a:ext cx="365760" cy="18288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3456432"/>
            <a:ext cx="4425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D1D1F"/>
                </a:solidFill>
                <a:latin typeface="SF Pro Text"/>
              </a:rPr>
              <a:t>·  结构化 memory 分层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3867911"/>
            <a:ext cx="4425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D1D1F"/>
                </a:solidFill>
                <a:latin typeface="SF Pro Text"/>
              </a:rPr>
              <a:t>·  profile 一次写多次用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544" y="4279392"/>
            <a:ext cx="4425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D1D1F"/>
                </a:solidFill>
                <a:latin typeface="SF Pro Text"/>
              </a:rPr>
              <a:t>·  插件 + skill + 规则三位一体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SF Pro Text"/>
              </a:rPr>
              <a:t>青岛火一五信息科技有限公司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5911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SF Pro Text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57400"/>
            <a:ext cx="10360152" cy="2400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00" b="1" spc="-255">
                <a:solidFill>
                  <a:srgbClr val="1D1D1F"/>
                </a:solidFill>
                <a:latin typeface="SF Pro Display"/>
              </a:rPr>
              <a:t>试用一下。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1420"/>
            <a:ext cx="103601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0" spc="-36">
                <a:solidFill>
                  <a:srgbClr val="424245"/>
                </a:solidFill>
                <a:latin typeface="SF Pro Display"/>
              </a:rPr>
              <a:t>5 分钟，把你的 Claude Code 升级。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6438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 spc="75">
                <a:solidFill>
                  <a:srgbClr val="0071E3"/>
                </a:solidFill>
                <a:latin typeface="SF Pro Display"/>
              </a:rPr>
              <a:t>huo15.com/openclaw-enhance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E6E73"/>
                </a:solidFill>
                <a:latin typeface="SF Pro Text"/>
              </a:rPr>
              <a:t>火一五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