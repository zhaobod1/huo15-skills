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10360152" cy="13716"/>
          </a:xfrm>
          <a:prstGeom prst="rect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65">
                <a:solidFill>
                  <a:srgbClr val="A8B8C6"/>
                </a:solidFill>
                <a:latin typeface="Noto Serif SC"/>
              </a:rPr>
              <a:t>旅行手记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spc="192">
                <a:solidFill>
                  <a:srgbClr val="4A3526"/>
                </a:solidFill>
                <a:latin typeface="Noto Serif SC"/>
              </a:rPr>
              <a:t>青岛，老城记忆。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700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30">
                <a:solidFill>
                  <a:srgbClr val="7A5C42"/>
                </a:solidFill>
                <a:latin typeface="Noto Serif SC"/>
              </a:rPr>
              <a:t>一次关于时间的漫游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88B6D"/>
                </a:solidFill>
                <a:latin typeface="Noto Serif SC"/>
              </a:rPr>
              <a:t>拍于 2026 年春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537960"/>
            <a:ext cx="10360152" cy="13716"/>
          </a:xfrm>
          <a:prstGeom prst="rect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31110"/>
            <a:ext cx="10360152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spc="-112">
                <a:solidFill>
                  <a:srgbClr val="A8B8C6"/>
                </a:solidFill>
                <a:latin typeface="Noto Serif SC"/>
              </a:rPr>
              <a:t>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7430"/>
            <a:ext cx="10360152" cy="7594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spc="92">
                <a:solidFill>
                  <a:srgbClr val="4A3526"/>
                </a:solidFill>
                <a:latin typeface="Noto Serif SC"/>
              </a:rPr>
              <a:t>八大关 · 红瓦绿树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A8B8C6"/>
                </a:solidFill>
                <a:latin typeface="Noto Serif SC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0030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spc="32">
                <a:solidFill>
                  <a:srgbClr val="4A3526"/>
                </a:solidFill>
                <a:latin typeface="Noto Serif SC"/>
              </a:rPr>
              <a:t>有些城市是用来打卡的，有些城市，只是慢慢走。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349240"/>
            <a:ext cx="457200" cy="18288"/>
          </a:xfrm>
          <a:prstGeom prst="rect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A3526"/>
                </a:solidFill>
                <a:latin typeface="Noto Serif SC"/>
              </a:rPr>
              <a:t>— 老青岛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897880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8B6D"/>
                </a:solidFill>
                <a:latin typeface="Noto Serif SC"/>
              </a:rPr>
              <a:t>本地讲述人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spc="26">
                <a:solidFill>
                  <a:srgbClr val="A8B8C6"/>
                </a:solidFill>
                <a:latin typeface="Noto Serif SC"/>
              </a:rPr>
              <a:t>One Slow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spc="30">
                <a:solidFill>
                  <a:srgbClr val="4A3526"/>
                </a:solidFill>
                <a:latin typeface="Noto Serif SC"/>
              </a:rPr>
              <a:t>一日慢游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7315"/>
          </a:xfrm>
          <a:prstGeom prst="rect">
            <a:avLst/>
          </a:prstGeom>
          <a:solidFill>
            <a:srgbClr val="E8D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863339"/>
            <a:ext cx="10817352" cy="13716"/>
          </a:xfrm>
          <a:prstGeom prst="rect">
            <a:avLst/>
          </a:prstGeom>
          <a:solidFill>
            <a:srgbClr val="D9C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726179"/>
            <a:ext cx="274320" cy="274320"/>
          </a:xfrm>
          <a:prstGeom prst="ellipse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502920" y="33604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spc="65">
                <a:solidFill>
                  <a:srgbClr val="A8B8C6"/>
                </a:solidFill>
                <a:latin typeface="Noto Serif SC"/>
              </a:rPr>
              <a:t>7:30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502920" y="276605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526"/>
                </a:solidFill>
                <a:latin typeface="Noto Serif SC"/>
              </a:rPr>
              <a:t>大学路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502920" y="22174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200" b="0">
                <a:solidFill>
                  <a:srgbClr val="A88B6D"/>
                </a:solidFill>
                <a:latin typeface="Noto Serif SC"/>
              </a:rPr>
              <a:t>买杯手冲，慢慢走</a:t>
            </a:r>
          </a:p>
        </p:txBody>
      </p:sp>
      <p:sp>
        <p:nvSpPr>
          <p:cNvPr id="10" name="Oval 9"/>
          <p:cNvSpPr/>
          <p:nvPr/>
        </p:nvSpPr>
        <p:spPr>
          <a:xfrm>
            <a:off x="4154423" y="3726179"/>
            <a:ext cx="274320" cy="274320"/>
          </a:xfrm>
          <a:prstGeom prst="ellipse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2864" y="40919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spc="65">
                <a:solidFill>
                  <a:srgbClr val="A8B8C6"/>
                </a:solidFill>
                <a:latin typeface="Noto Serif SC"/>
              </a:rPr>
              <a:t>11:00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2864" y="45034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526"/>
                </a:solidFill>
                <a:latin typeface="Noto Serif SC"/>
              </a:rPr>
              <a:t>八大关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2864" y="505205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200" b="0">
                <a:solidFill>
                  <a:srgbClr val="A88B6D"/>
                </a:solidFill>
                <a:latin typeface="Noto Serif SC"/>
              </a:rPr>
              <a:t>红瓦绿树碧海</a:t>
            </a:r>
          </a:p>
        </p:txBody>
      </p:sp>
      <p:sp>
        <p:nvSpPr>
          <p:cNvPr id="14" name="Oval 13"/>
          <p:cNvSpPr/>
          <p:nvPr/>
        </p:nvSpPr>
        <p:spPr>
          <a:xfrm>
            <a:off x="7760208" y="3726179"/>
            <a:ext cx="274320" cy="274320"/>
          </a:xfrm>
          <a:prstGeom prst="ellipse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8648" y="33604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spc="65">
                <a:solidFill>
                  <a:srgbClr val="A8B8C6"/>
                </a:solidFill>
                <a:latin typeface="Noto Serif SC"/>
              </a:rPr>
              <a:t>15:00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8648" y="276605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526"/>
                </a:solidFill>
                <a:latin typeface="Noto Serif SC"/>
              </a:rPr>
              <a:t>栈桥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8648" y="22174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200" b="0">
                <a:solidFill>
                  <a:srgbClr val="A88B6D"/>
                </a:solidFill>
                <a:latin typeface="Noto Serif SC"/>
              </a:rPr>
              <a:t>喂海鸥，吹海风</a:t>
            </a:r>
          </a:p>
        </p:txBody>
      </p:sp>
      <p:sp>
        <p:nvSpPr>
          <p:cNvPr id="18" name="Oval 17"/>
          <p:cNvSpPr/>
          <p:nvPr/>
        </p:nvSpPr>
        <p:spPr>
          <a:xfrm>
            <a:off x="11365992" y="3726179"/>
            <a:ext cx="274320" cy="274320"/>
          </a:xfrm>
          <a:prstGeom prst="ellipse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14432" y="40919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spc="65">
                <a:solidFill>
                  <a:srgbClr val="A8B8C6"/>
                </a:solidFill>
                <a:latin typeface="Noto Serif SC"/>
              </a:rPr>
              <a:t>19:30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4432" y="45034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526"/>
                </a:solidFill>
                <a:latin typeface="Noto Serif SC"/>
              </a:rPr>
              <a:t>啤酒街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4432" y="505205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200" b="0">
                <a:solidFill>
                  <a:srgbClr val="A88B6D"/>
                </a:solidFill>
                <a:latin typeface="Noto Serif SC"/>
              </a:rPr>
              <a:t>一扎原浆配蛤蜊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8B6D"/>
                </a:solidFill>
                <a:latin typeface="Noto Serif SC"/>
              </a:rPr>
              <a:t>青岛火一五信息科技有限公司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16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8B6D"/>
                </a:solidFill>
                <a:latin typeface="Noto Serif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spc="26">
                <a:solidFill>
                  <a:srgbClr val="A8B8C6"/>
                </a:solidFill>
                <a:latin typeface="Noto Serif SC"/>
              </a:rPr>
              <a:t>Packing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spc="30">
                <a:solidFill>
                  <a:srgbClr val="4A3526"/>
                </a:solidFill>
                <a:latin typeface="Noto Serif SC"/>
              </a:rPr>
              <a:t>带什么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7315"/>
          </a:xfrm>
          <a:prstGeom prst="rect">
            <a:avLst/>
          </a:prstGeom>
          <a:solidFill>
            <a:srgbClr val="E8D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331720"/>
            <a:ext cx="109728" cy="109728"/>
          </a:xfrm>
          <a:prstGeom prst="ellipse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4515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spc="17">
                <a:solidFill>
                  <a:srgbClr val="4A3526"/>
                </a:solidFill>
                <a:latin typeface="Noto Serif SC"/>
              </a:rPr>
              <a:t>一台胶片相机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10451592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A5C42"/>
                </a:solidFill>
                <a:latin typeface="Noto Serif SC"/>
              </a:rPr>
              <a:t>复古滤镜不如真胶片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73552"/>
            <a:ext cx="109728" cy="109728"/>
          </a:xfrm>
          <a:prstGeom prst="ellipse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090672"/>
            <a:ext cx="104515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spc="17">
                <a:solidFill>
                  <a:srgbClr val="4A3526"/>
                </a:solidFill>
                <a:latin typeface="Noto Serif SC"/>
              </a:rPr>
              <a:t>一本诗集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02152"/>
            <a:ext cx="10451592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A5C42"/>
                </a:solidFill>
                <a:latin typeface="Noto Serif SC"/>
              </a:rPr>
              <a:t>等餐时读两页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215384"/>
            <a:ext cx="109728" cy="109728"/>
          </a:xfrm>
          <a:prstGeom prst="ellipse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32504"/>
            <a:ext cx="104515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spc="17">
                <a:solidFill>
                  <a:srgbClr val="4A3526"/>
                </a:solidFill>
                <a:latin typeface="Noto Serif SC"/>
              </a:rPr>
              <a:t>一件薄外套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43984"/>
            <a:ext cx="10451592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A5C42"/>
                </a:solidFill>
                <a:latin typeface="Noto Serif SC"/>
              </a:rPr>
              <a:t>海边黄昏降温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8B6D"/>
                </a:solidFill>
                <a:latin typeface="Noto Serif SC"/>
              </a:rPr>
              <a:t>青岛火一五信息科技有限公司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16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8B6D"/>
                </a:solidFill>
                <a:latin typeface="Noto Serif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10360152" cy="13716"/>
          </a:xfrm>
          <a:prstGeom prst="rect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60152" cy="2400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spc="162">
                <a:solidFill>
                  <a:srgbClr val="4A3526"/>
                </a:solidFill>
                <a:latin typeface="Noto Serif SC"/>
              </a:rPr>
              <a:t>愿你也慢下来。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97580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spc="22">
                <a:solidFill>
                  <a:srgbClr val="7A5C42"/>
                </a:solidFill>
                <a:latin typeface="Noto Serif SC"/>
              </a:rPr>
              <a:t>下次来青岛，留出一整天给自己。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205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spc="63">
                <a:solidFill>
                  <a:srgbClr val="A8B8C6"/>
                </a:solidFill>
                <a:latin typeface="Noto Serif SC"/>
              </a:rPr>
              <a:t>小红书 @青岛小剧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88B6D"/>
                </a:solidFill>
                <a:latin typeface="Noto Serif SC"/>
              </a:rPr>
              <a:t>—— 春日慢游手记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537960"/>
            <a:ext cx="10360152" cy="13716"/>
          </a:xfrm>
          <a:prstGeom prst="rect">
            <a:avLst/>
          </a:prstGeom>
          <a:solidFill>
            <a:srgbClr val="A8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