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rgbClr val="050510"/>
              </a:gs>
              <a:gs pos="100000">
                <a:srgbClr val="0B0E1F"/>
              </a:gs>
            </a:gsLst>
            <a:lin ang="81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7315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4630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1945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603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92607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29183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365759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2335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891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8521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179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7572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15292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15292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spc="280">
                <a:solidFill>
                  <a:srgbClr val="00D9FF"/>
                </a:solidFill>
                <a:latin typeface="Inter"/>
              </a:rPr>
              <a:t>INTRODUCING</a:t>
            </a:r>
          </a:p>
        </p:txBody>
      </p:sp>
      <p:sp>
        <p:nvSpPr>
          <p:cNvPr id="63" name="Oval 62"/>
          <p:cNvSpPr/>
          <p:nvPr/>
        </p:nvSpPr>
        <p:spPr>
          <a:xfrm>
            <a:off x="1259997" y="1595514"/>
            <a:ext cx="6560911" cy="3936547"/>
          </a:xfrm>
          <a:prstGeom prst="ellipse">
            <a:avLst/>
          </a:prstGeom>
          <a:solidFill>
            <a:srgbClr val="00D9FF">
              <a:alpha val="55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06739" y="1923560"/>
            <a:ext cx="5467426" cy="3280455"/>
          </a:xfrm>
          <a:prstGeom prst="ellipse">
            <a:avLst/>
          </a:prstGeom>
          <a:solidFill>
            <a:srgbClr val="00D9FF">
              <a:alpha val="42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353482" y="2251605"/>
            <a:ext cx="4373941" cy="2624364"/>
          </a:xfrm>
          <a:prstGeom prst="ellipse">
            <a:avLst/>
          </a:prstGeom>
          <a:solidFill>
            <a:srgbClr val="00D9FF">
              <a:alpha val="27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900225" y="2579651"/>
            <a:ext cx="3280455" cy="1968273"/>
          </a:xfrm>
          <a:prstGeom prst="ellipse">
            <a:avLst/>
          </a:prstGeom>
          <a:solidFill>
            <a:srgbClr val="00D9FF">
              <a:alpha val="13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288036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762" b="1" spc="-269">
                <a:gradFill flip="none" rotWithShape="1">
                  <a:gsLst>
                    <a:gs pos="0">
                      <a:srgbClr val="00D9FF"/>
                    </a:gs>
                    <a:gs pos="100000">
                      <a:srgbClr val="7C3AED"/>
                    </a:gs>
                  </a:gsLst>
                  <a:lin ang="0" scaled="0"/>
                  <a:tileRect/>
                </a:gradFill>
                <a:latin typeface="Inter"/>
              </a:rPr>
              <a:t>Synapse AI.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4657273"/>
            <a:ext cx="103601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>
                <a:solidFill>
                  <a:srgbClr val="8B95B3"/>
                </a:solidFill>
                <a:latin typeface="Inter"/>
              </a:rPr>
              <a:t>重新定义人机协作。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484"/>
                </a:solidFill>
                <a:latin typeface="Inter"/>
              </a:rPr>
              <a:t>Synapse Labs · 2026.04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35">
                <a:solidFill>
                  <a:srgbClr val="5A6484"/>
                </a:solidFill>
                <a:latin typeface="JetBrains Mono"/>
              </a:rPr>
              <a:t>BUILD · 2026.4.24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rgbClr val="050510"/>
              </a:gs>
              <a:gs pos="100000">
                <a:srgbClr val="0B0E1F"/>
              </a:gs>
            </a:gsLst>
            <a:lin ang="81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7315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4630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1945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603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92607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29183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365759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2335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891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8521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179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7572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15292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15292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2616" y="1547469"/>
            <a:ext cx="2487168" cy="1492300"/>
          </a:xfrm>
          <a:prstGeom prst="ellipse">
            <a:avLst/>
          </a:prstGeom>
          <a:solidFill>
            <a:srgbClr val="00D9FF">
              <a:alpha val="44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09880" y="1671828"/>
            <a:ext cx="2072640" cy="1243584"/>
          </a:xfrm>
          <a:prstGeom prst="ellipse">
            <a:avLst/>
          </a:prstGeom>
          <a:solidFill>
            <a:srgbClr val="00D9FF">
              <a:alpha val="33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17144" y="1796186"/>
            <a:ext cx="1658112" cy="994867"/>
          </a:xfrm>
          <a:prstGeom prst="ellipse">
            <a:avLst/>
          </a:prstGeom>
          <a:solidFill>
            <a:srgbClr val="00D9FF">
              <a:alpha val="224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24408" y="1920544"/>
            <a:ext cx="1243584" cy="746150"/>
          </a:xfrm>
          <a:prstGeom prst="ellipse">
            <a:avLst/>
          </a:prstGeom>
          <a:solidFill>
            <a:srgbClr val="00D9FF">
              <a:alpha val="11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1775460"/>
            <a:ext cx="10360152" cy="103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 spc="-136">
                <a:gradFill flip="none" rotWithShape="1">
                  <a:gsLst>
                    <a:gs pos="0">
                      <a:srgbClr val="00D9FF"/>
                    </a:gs>
                    <a:gs pos="100000">
                      <a:srgbClr val="7C3AED"/>
                    </a:gs>
                  </a:gsLst>
                  <a:lin ang="0" scaled="0"/>
                  <a:tileRect/>
                </a:gradFill>
                <a:latin typeface="Inter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994660"/>
            <a:ext cx="10360152" cy="117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0" b="1" spc="-176">
                <a:solidFill>
                  <a:srgbClr val="F0F4FF"/>
                </a:solidFill>
                <a:latin typeface="Inter"/>
              </a:rPr>
              <a:t>Performance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4442460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>
                <a:solidFill>
                  <a:srgbClr val="8B95B3"/>
                </a:solidFill>
                <a:latin typeface="Inter"/>
              </a:rPr>
              <a:t>性能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rgbClr val="050510"/>
              </a:gs>
              <a:gs pos="100000">
                <a:srgbClr val="0B0E1F"/>
              </a:gs>
            </a:gsLst>
            <a:lin ang="81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7315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4630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1945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603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92607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29183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365759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2335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891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8521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179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7572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15292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15292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1234439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spc="280">
                <a:solidFill>
                  <a:srgbClr val="00D9FF"/>
                </a:solidFill>
                <a:latin typeface="Inter"/>
              </a:rPr>
              <a:t>INFERENCE LATENCY</a:t>
            </a:r>
          </a:p>
        </p:txBody>
      </p:sp>
      <p:sp>
        <p:nvSpPr>
          <p:cNvPr id="63" name="Oval 62"/>
          <p:cNvSpPr/>
          <p:nvPr/>
        </p:nvSpPr>
        <p:spPr>
          <a:xfrm>
            <a:off x="206976" y="-146679"/>
            <a:ext cx="11774998" cy="7064998"/>
          </a:xfrm>
          <a:prstGeom prst="ellipse">
            <a:avLst/>
          </a:prstGeom>
          <a:solidFill>
            <a:srgbClr val="00D9FF">
              <a:alpha val="55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48048" y="357963"/>
            <a:ext cx="10092855" cy="6055713"/>
          </a:xfrm>
          <a:prstGeom prst="ellipse">
            <a:avLst/>
          </a:prstGeom>
          <a:solidFill>
            <a:srgbClr val="00D9FF">
              <a:alpha val="44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889119" y="862606"/>
            <a:ext cx="8410713" cy="5046427"/>
          </a:xfrm>
          <a:prstGeom prst="ellipse">
            <a:avLst/>
          </a:prstGeom>
          <a:solidFill>
            <a:srgbClr val="00D9FF">
              <a:alpha val="33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730190" y="1367248"/>
            <a:ext cx="6728570" cy="4037142"/>
          </a:xfrm>
          <a:prstGeom prst="ellipse">
            <a:avLst/>
          </a:prstGeom>
          <a:solidFill>
            <a:srgbClr val="00D9FF">
              <a:alpha val="224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571262" y="1871891"/>
            <a:ext cx="5046427" cy="3027856"/>
          </a:xfrm>
          <a:prstGeom prst="ellipse">
            <a:avLst/>
          </a:prstGeom>
          <a:solidFill>
            <a:srgbClr val="00D9FF">
              <a:alpha val="11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1874519"/>
            <a:ext cx="10360152" cy="302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20695" b="1" spc="-827">
                <a:gradFill flip="none" rotWithShape="1">
                  <a:gsLst>
                    <a:gs pos="0">
                      <a:srgbClr val="00D9FF"/>
                    </a:gs>
                    <a:gs pos="100000">
                      <a:srgbClr val="7C3AED"/>
                    </a:gs>
                  </a:gsLst>
                  <a:lin ang="0" scaled="0"/>
                  <a:tileRect/>
                </a:gradFill>
                <a:latin typeface="Inter"/>
              </a:rPr>
              <a:t>42ms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5034280"/>
            <a:ext cx="10360152" cy="726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95B3"/>
                </a:solidFill>
                <a:latin typeface="Inter"/>
              </a:rPr>
              <a:t>p99 尾延迟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A6484"/>
                </a:solidFill>
                <a:latin typeface="Inter"/>
              </a:rPr>
              <a:t>基于 10B 参数模型 · A100 推理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rgbClr val="050510"/>
              </a:gs>
              <a:gs pos="100000">
                <a:srgbClr val="0B0E1F"/>
              </a:gs>
            </a:gsLst>
            <a:lin ang="81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7315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4630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1945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603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92607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29183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365759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2335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891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8521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179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7572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15292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15292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4572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spc="210">
                <a:solidFill>
                  <a:srgbClr val="00D9FF"/>
                </a:solidFill>
                <a:latin typeface="Inter"/>
              </a:rPr>
              <a:t>KEY METRICS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86868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0F4FF"/>
                </a:solidFill>
                <a:latin typeface="Inter"/>
              </a:rPr>
              <a:t>关键指标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1645920"/>
            <a:ext cx="10725912" cy="7315"/>
          </a:xfrm>
          <a:prstGeom prst="rect">
            <a:avLst/>
          </a:prstGeom>
          <a:solidFill>
            <a:srgbClr val="13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" y="2103120"/>
            <a:ext cx="3361944" cy="3200400"/>
          </a:xfrm>
          <a:prstGeom prst="roundRect">
            <a:avLst/>
          </a:prstGeom>
          <a:solidFill>
            <a:srgbClr val="0D0D1F"/>
          </a:solidFill>
          <a:ln w="9525">
            <a:solidFill>
              <a:srgbClr val="1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3272" y="2999232"/>
            <a:ext cx="2758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700" b="1" spc="-114">
                <a:solidFill>
                  <a:srgbClr val="00D9FF"/>
                </a:solidFill>
                <a:latin typeface="Inter"/>
              </a:rPr>
              <a:t>10B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272" y="3959351"/>
            <a:ext cx="275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0F4FF"/>
                </a:solidFill>
                <a:latin typeface="Inter"/>
              </a:rPr>
              <a:t>参数规模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272" y="4416551"/>
            <a:ext cx="2758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5A6484"/>
                </a:solidFill>
                <a:latin typeface="Inter"/>
              </a:rPr>
              <a:t>开源可商用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413504" y="2103120"/>
            <a:ext cx="3361944" cy="3200400"/>
          </a:xfrm>
          <a:prstGeom prst="roundRect">
            <a:avLst/>
          </a:prstGeom>
          <a:solidFill>
            <a:srgbClr val="0D0D1F"/>
          </a:solidFill>
          <a:ln w="9525">
            <a:solidFill>
              <a:srgbClr val="1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15256" y="2999232"/>
            <a:ext cx="2758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700" b="1" spc="-114">
                <a:solidFill>
                  <a:srgbClr val="00D9FF"/>
                </a:solidFill>
                <a:latin typeface="Inter"/>
              </a:rPr>
              <a:t>256k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15256" y="3959351"/>
            <a:ext cx="275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0F4FF"/>
                </a:solidFill>
                <a:latin typeface="Inter"/>
              </a:rPr>
              <a:t>上下文窗口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15256" y="4416551"/>
            <a:ext cx="2758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5A6484"/>
                </a:solidFill>
                <a:latin typeface="Inter"/>
              </a:rPr>
              <a:t>长文本首选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95488" y="2103120"/>
            <a:ext cx="3361944" cy="3200400"/>
          </a:xfrm>
          <a:prstGeom prst="roundRect">
            <a:avLst/>
          </a:prstGeom>
          <a:solidFill>
            <a:srgbClr val="0D0D1F"/>
          </a:solidFill>
          <a:ln w="9525">
            <a:solidFill>
              <a:srgbClr val="1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97240" y="2999232"/>
            <a:ext cx="2758440" cy="728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778" b="1" spc="-95">
                <a:solidFill>
                  <a:srgbClr val="00D9FF"/>
                </a:solidFill>
                <a:latin typeface="Inter"/>
              </a:rPr>
              <a:t>99.97%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97240" y="3818900"/>
            <a:ext cx="2758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0F4FF"/>
                </a:solidFill>
                <a:latin typeface="Inter"/>
              </a:rPr>
              <a:t>服务可用性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97240" y="4276100"/>
            <a:ext cx="2758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5A6484"/>
                </a:solidFill>
                <a:latin typeface="Inter"/>
              </a:rPr>
              <a:t>SLA 保障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484"/>
                </a:solidFill>
                <a:latin typeface="Inter"/>
              </a:rPr>
              <a:t>Synapse Labs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484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rgbClr val="050510"/>
              </a:gs>
              <a:gs pos="100000">
                <a:srgbClr val="0B0E1F"/>
              </a:gs>
            </a:gsLst>
            <a:lin ang="81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7315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4630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1945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603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92607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29183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365759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2335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891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8521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179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7572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15292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15292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2616" y="1746961"/>
            <a:ext cx="2487168" cy="1492300"/>
          </a:xfrm>
          <a:prstGeom prst="ellipse">
            <a:avLst/>
          </a:prstGeom>
          <a:solidFill>
            <a:srgbClr val="00D9FF">
              <a:alpha val="448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09880" y="1871319"/>
            <a:ext cx="2072640" cy="1243584"/>
          </a:xfrm>
          <a:prstGeom prst="ellipse">
            <a:avLst/>
          </a:prstGeom>
          <a:solidFill>
            <a:srgbClr val="00D9FF">
              <a:alpha val="336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17144" y="1995677"/>
            <a:ext cx="1658112" cy="994867"/>
          </a:xfrm>
          <a:prstGeom prst="ellipse">
            <a:avLst/>
          </a:prstGeom>
          <a:solidFill>
            <a:srgbClr val="00D9FF">
              <a:alpha val="224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24408" y="2120036"/>
            <a:ext cx="1243584" cy="746150"/>
          </a:xfrm>
          <a:prstGeom prst="ellipse">
            <a:avLst/>
          </a:prstGeom>
          <a:solidFill>
            <a:srgbClr val="00D9FF">
              <a:alpha val="112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1974951"/>
            <a:ext cx="10360152" cy="103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 spc="-136">
                <a:gradFill flip="none" rotWithShape="1">
                  <a:gsLst>
                    <a:gs pos="0">
                      <a:srgbClr val="00D9FF"/>
                    </a:gs>
                    <a:gs pos="100000">
                      <a:srgbClr val="7C3AED"/>
                    </a:gs>
                  </a:gsLst>
                  <a:lin ang="0" scaled="0"/>
                  <a:tileRect/>
                </a:gradFill>
                <a:latin typeface="Inter"/>
              </a:rPr>
              <a:t>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3194151"/>
            <a:ext cx="10360152" cy="774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808" b="1" spc="-116">
                <a:solidFill>
                  <a:srgbClr val="F0F4FF"/>
                </a:solidFill>
                <a:latin typeface="Inter"/>
              </a:rPr>
              <a:t>Developer Experience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4242968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>
                <a:solidFill>
                  <a:srgbClr val="8B95B3"/>
                </a:solidFill>
                <a:latin typeface="Inter"/>
              </a:rPr>
              <a:t>5 行接入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rgbClr val="050510"/>
              </a:gs>
              <a:gs pos="100000">
                <a:srgbClr val="0B0E1F"/>
              </a:gs>
            </a:gsLst>
            <a:lin ang="81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7315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4630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1945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603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92607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29183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365759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2335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891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8521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179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7572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15292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15292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4572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spc="210">
                <a:solidFill>
                  <a:srgbClr val="00D9FF"/>
                </a:solidFill>
                <a:latin typeface="Inter"/>
              </a:rPr>
              <a:t>5 LINES OF CODE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86868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0F4FF"/>
                </a:solidFill>
                <a:latin typeface="Inter"/>
              </a:rPr>
              <a:t>Quickstart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1645920"/>
            <a:ext cx="10725912" cy="7315"/>
          </a:xfrm>
          <a:prstGeom prst="rect">
            <a:avLst/>
          </a:prstGeom>
          <a:solidFill>
            <a:srgbClr val="13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" y="1874519"/>
            <a:ext cx="10725912" cy="3886200"/>
          </a:xfrm>
          <a:prstGeom prst="roundRect">
            <a:avLst/>
          </a:prstGeom>
          <a:solidFill>
            <a:srgbClr val="0D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1520" y="2286000"/>
            <a:ext cx="10725912" cy="4572"/>
          </a:xfrm>
          <a:prstGeom prst="rect">
            <a:avLst/>
          </a:prstGeom>
          <a:solidFill>
            <a:srgbClr val="1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60120" y="2007107"/>
            <a:ext cx="137160" cy="13716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79576" y="2007107"/>
            <a:ext cx="137160" cy="137160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399032" y="2007107"/>
            <a:ext cx="137160" cy="137160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20240" y="1929384"/>
            <a:ext cx="8714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spc="24">
                <a:solidFill>
                  <a:srgbClr val="8B95B3"/>
                </a:solidFill>
                <a:latin typeface="JetBrains Mono"/>
              </a:rPr>
              <a:t>app.py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68712" y="19476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spc="165">
                <a:solidFill>
                  <a:srgbClr val="5A6484"/>
                </a:solidFill>
                <a:latin typeface="JetBrains Mono"/>
              </a:rPr>
              <a:t>PYTHON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" y="24231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2E3550"/>
                </a:solidFill>
                <a:latin typeface="JetBrains Mono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08760" y="24231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D9FF"/>
                </a:solidFill>
                <a:latin typeface="JetBrains Mono"/>
              </a:rPr>
              <a:t>from</a:t>
            </a:r>
            <a:r>
              <a:rPr sz="1400">
                <a:solidFill>
                  <a:srgbClr val="F0F4FF"/>
                </a:solidFill>
                <a:latin typeface="JetBrains Mono"/>
              </a:rPr>
              <a:t> synapse import Client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" y="26898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2E3550"/>
                </a:solidFill>
                <a:latin typeface="JetBrains Mono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08760" y="26898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</a:p>
        </p:txBody>
      </p:sp>
      <p:sp>
        <p:nvSpPr>
          <p:cNvPr id="76" name="TextBox 75"/>
          <p:cNvSpPr txBox="1"/>
          <p:nvPr/>
        </p:nvSpPr>
        <p:spPr>
          <a:xfrm>
            <a:off x="960120" y="29565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2E3550"/>
                </a:solidFill>
                <a:latin typeface="JetBrains Mono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08760" y="29565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0F4FF"/>
                </a:solidFill>
                <a:latin typeface="JetBrains Mono"/>
              </a:rPr>
              <a:t>client</a:t>
            </a:r>
            <a:r>
              <a:rPr sz="1400">
                <a:solidFill>
                  <a:srgbClr val="F0F4FF"/>
                </a:solidFill>
                <a:latin typeface="JetBrains Mono"/>
              </a:rPr>
              <a:t> = Client(api_key="sk-...")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" y="32232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2E3550"/>
                </a:solidFill>
                <a:latin typeface="JetBrains Mono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08760" y="32232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</a:p>
        </p:txBody>
      </p:sp>
      <p:sp>
        <p:nvSpPr>
          <p:cNvPr id="80" name="TextBox 79"/>
          <p:cNvSpPr txBox="1"/>
          <p:nvPr/>
        </p:nvSpPr>
        <p:spPr>
          <a:xfrm>
            <a:off x="960120" y="34899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2E3550"/>
                </a:solidFill>
                <a:latin typeface="JetBrains Mono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08760" y="34899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0F4FF"/>
                </a:solidFill>
                <a:latin typeface="JetBrains Mono"/>
              </a:rPr>
              <a:t>response</a:t>
            </a:r>
            <a:r>
              <a:rPr sz="1400">
                <a:solidFill>
                  <a:srgbClr val="F0F4FF"/>
                </a:solidFill>
                <a:latin typeface="JetBrains Mono"/>
              </a:rPr>
              <a:t> = client.chat(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0120" y="3738372"/>
            <a:ext cx="10268712" cy="266700"/>
          </a:xfrm>
          <a:prstGeom prst="roundRect">
            <a:avLst/>
          </a:prstGeom>
          <a:solidFill>
            <a:srgbClr val="13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0120" y="37566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2E3550"/>
                </a:solidFill>
                <a:latin typeface="JetBrains Mono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08760" y="37566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0F4FF"/>
                </a:solidFill>
                <a:latin typeface="JetBrains Mono"/>
              </a:rPr>
              <a:t>    </a:t>
            </a:r>
            <a:r>
              <a:rPr sz="1400">
                <a:solidFill>
                  <a:srgbClr val="F0F4FF"/>
                </a:solidFill>
                <a:latin typeface="JetBrains Mono"/>
              </a:rPr>
              <a:t>model</a:t>
            </a:r>
            <a:r>
              <a:rPr sz="1400">
                <a:solidFill>
                  <a:srgbClr val="F0F4FF"/>
                </a:solidFill>
                <a:latin typeface="JetBrains Mono"/>
              </a:rPr>
              <a:t>="synapse-ultra",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0120" y="40233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2E3550"/>
                </a:solidFill>
                <a:latin typeface="JetBrains Mono"/>
              </a:rP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08760" y="40233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0F4FF"/>
                </a:solidFill>
                <a:latin typeface="JetBrains Mono"/>
              </a:rPr>
              <a:t>    </a:t>
            </a:r>
            <a:r>
              <a:rPr sz="1400">
                <a:solidFill>
                  <a:srgbClr val="F0F4FF"/>
                </a:solidFill>
                <a:latin typeface="JetBrains Mono"/>
              </a:rPr>
              <a:t>messages</a:t>
            </a:r>
            <a:r>
              <a:rPr sz="1400">
                <a:solidFill>
                  <a:srgbClr val="F0F4FF"/>
                </a:solidFill>
                <a:latin typeface="JetBrains Mono"/>
              </a:rPr>
              <a:t>=[{"role": "user", "content": "Hello!"}]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0120" y="42900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2E3550"/>
                </a:solidFill>
                <a:latin typeface="JetBrains Mono"/>
              </a:rP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08760" y="42900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0F4FF"/>
                </a:solidFill>
                <a:latin typeface="JetBrains Mono"/>
              </a:rPr>
              <a:t>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" y="45567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2E3550"/>
                </a:solidFill>
                <a:latin typeface="JetBrains Mono"/>
              </a:rPr>
              <a:t>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08760" y="45567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</a:p>
        </p:txBody>
      </p:sp>
      <p:sp>
        <p:nvSpPr>
          <p:cNvPr id="91" name="TextBox 90"/>
          <p:cNvSpPr txBox="1"/>
          <p:nvPr/>
        </p:nvSpPr>
        <p:spPr>
          <a:xfrm>
            <a:off x="960120" y="4823460"/>
            <a:ext cx="41148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2E3550"/>
                </a:solidFill>
                <a:latin typeface="JetBrains Mono"/>
              </a:rPr>
              <a:t>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08760" y="4823460"/>
            <a:ext cx="9582912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F0F4FF"/>
                </a:solidFill>
                <a:latin typeface="JetBrains Mono"/>
              </a:rPr>
              <a:t>print</a:t>
            </a:r>
            <a:r>
              <a:rPr sz="1400">
                <a:solidFill>
                  <a:srgbClr val="F0F4FF"/>
                </a:solidFill>
                <a:latin typeface="JetBrains Mono"/>
              </a:rPr>
              <a:t>(response.content)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" y="6080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484"/>
                </a:solidFill>
                <a:latin typeface="Inter"/>
              </a:rPr>
              <a:t>pip install synapse-ai · 官方 Python SDK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484"/>
                </a:solidFill>
                <a:latin typeface="Inter"/>
              </a:rPr>
              <a:t>Synapse Labs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484"/>
                </a:solidFill>
                <a:latin typeface="Inter"/>
              </a:rPr>
              <a:t>06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99831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spc="135">
                <a:solidFill>
                  <a:srgbClr val="5A6484"/>
                </a:solidFill>
                <a:latin typeface="JetBrains Mono"/>
              </a:rPr>
              <a:t>BUILD · 2026.4.24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rgbClr val="050510"/>
              </a:gs>
              <a:gs pos="100000">
                <a:srgbClr val="0B0E1F"/>
              </a:gs>
            </a:gsLst>
            <a:lin ang="81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7315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4630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1945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603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92607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29183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365759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2335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891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8521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179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7572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15292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15292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4572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spc="210">
                <a:solidFill>
                  <a:srgbClr val="00D9FF"/>
                </a:solidFill>
                <a:latin typeface="Inter"/>
              </a:rPr>
              <a:t>SYNAPSE VS LEGACY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86868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0F4FF"/>
                </a:solidFill>
                <a:latin typeface="Inter"/>
              </a:rPr>
              <a:t>对比传统方案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1645920"/>
            <a:ext cx="10725912" cy="7315"/>
          </a:xfrm>
          <a:prstGeom prst="rect">
            <a:avLst/>
          </a:prstGeom>
          <a:solidFill>
            <a:srgbClr val="13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" y="2103120"/>
            <a:ext cx="5202936" cy="3977639"/>
          </a:xfrm>
          <a:prstGeom prst="roundRect">
            <a:avLst/>
          </a:prstGeom>
          <a:solidFill>
            <a:srgbClr val="0D0D1F"/>
          </a:solidFill>
          <a:ln w="9525">
            <a:solidFill>
              <a:srgbClr val="1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4712" y="242316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79">
                <a:solidFill>
                  <a:srgbClr val="5A6484"/>
                </a:solidFill>
                <a:latin typeface="Inter"/>
              </a:rPr>
              <a:t>LEGACY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24712" y="2743200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  <a:latin typeface="Inter"/>
              </a:rPr>
              <a:t>传统 LLM 方案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24712" y="3291840"/>
            <a:ext cx="365760" cy="18288"/>
          </a:xfrm>
          <a:prstGeom prst="rect">
            <a:avLst/>
          </a:prstGeom>
          <a:solidFill>
            <a:srgbClr val="1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4712" y="352044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8B95B3"/>
                </a:solidFill>
                <a:latin typeface="Inter"/>
              </a:rPr>
              <a:t>·  部署需要 8×A100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4712" y="393192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8B95B3"/>
                </a:solidFill>
                <a:latin typeface="Inter"/>
              </a:rPr>
              <a:t>·  上下文 32k 天花板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4712" y="434340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8B95B3"/>
                </a:solidFill>
                <a:latin typeface="Inter"/>
              </a:rPr>
              <a:t>·  闭源黑盒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" y="475488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8B95B3"/>
                </a:solidFill>
                <a:latin typeface="Inter"/>
              </a:rPr>
              <a:t>·  p99 &gt; 800ms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54496" y="2103120"/>
            <a:ext cx="5202936" cy="3977639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47688" y="242316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79">
                <a:solidFill>
                  <a:srgbClr val="00D9FF"/>
                </a:solidFill>
                <a:latin typeface="Inter"/>
              </a:rPr>
              <a:t>SYNAPSE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47688" y="2743200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  <a:latin typeface="Inter"/>
              </a:rPr>
              <a:t>Synapse AI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47688" y="3291840"/>
            <a:ext cx="365760" cy="1828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47688" y="352044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0F4FF"/>
                </a:solidFill>
                <a:latin typeface="Inter"/>
              </a:rPr>
              <a:t>·  单张 A100 可跑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47688" y="393192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0F4FF"/>
                </a:solidFill>
                <a:latin typeface="Inter"/>
              </a:rPr>
              <a:t>·  原生 256k 上下文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47688" y="434340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0F4FF"/>
                </a:solidFill>
                <a:latin typeface="Inter"/>
              </a:rPr>
              <a:t>·  开源权重 · 可商用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47688" y="4754880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F0F4FF"/>
                </a:solidFill>
                <a:latin typeface="Inter"/>
              </a:rPr>
              <a:t>·  p99 &lt; 50ms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484"/>
                </a:solidFill>
                <a:latin typeface="Inter"/>
              </a:rPr>
              <a:t>Synapse Labs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484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rgbClr val="050510"/>
              </a:gs>
              <a:gs pos="100000">
                <a:srgbClr val="0B0E1F"/>
              </a:gs>
            </a:gsLst>
            <a:lin ang="81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7315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4630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1945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603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92607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29183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365759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2335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891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8521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179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7572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15292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15292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1371600"/>
            <a:ext cx="1371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400" b="1">
                <a:solidFill>
                  <a:srgbClr val="00D9FF"/>
                </a:solidFill>
                <a:latin typeface="Inter"/>
              </a:rPr>
              <a:t>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2400300"/>
            <a:ext cx="103601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F0F4FF"/>
                </a:solidFill>
                <a:latin typeface="Inter"/>
              </a:rPr>
              <a:t>这是我们测过最好的中文推理模型，稳定性和速度都超出预期。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" y="5349240"/>
            <a:ext cx="457200" cy="18288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F4FF"/>
                </a:solidFill>
                <a:latin typeface="Inter"/>
              </a:rPr>
              <a:t>— Alex Chen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" y="5897880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484"/>
                </a:solidFill>
                <a:latin typeface="Inter"/>
              </a:rPr>
              <a:t>字节跳动 · Tech Lead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rgbClr val="050510"/>
              </a:gs>
              <a:gs pos="100000">
                <a:srgbClr val="0B0E1F"/>
              </a:gs>
            </a:gsLst>
            <a:lin ang="81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7315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4630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1945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603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92607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29183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365759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2335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891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8521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179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7572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15292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15292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45720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spc="210">
                <a:solidFill>
                  <a:srgbClr val="00D9FF"/>
                </a:solidFill>
                <a:latin typeface="Inter"/>
              </a:rPr>
              <a:t>CORE CAPABILITIES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868680"/>
            <a:ext cx="107259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0F4FF"/>
                </a:solidFill>
                <a:latin typeface="Inter"/>
              </a:rPr>
              <a:t>四大核心能力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1645920"/>
            <a:ext cx="10725912" cy="7315"/>
          </a:xfrm>
          <a:prstGeom prst="rect">
            <a:avLst/>
          </a:prstGeom>
          <a:solidFill>
            <a:srgbClr val="13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31520" y="2148839"/>
            <a:ext cx="365760" cy="36576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214883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50510"/>
                </a:solidFill>
                <a:latin typeface="Inter"/>
              </a:rPr>
              <a:t>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25880" y="2103120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F4FF"/>
                </a:solidFill>
                <a:latin typeface="Inter"/>
              </a:rPr>
              <a:t>长文本推理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25880" y="2514600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8B95B3"/>
                </a:solidFill>
                <a:latin typeface="Inter"/>
              </a:rPr>
              <a:t>256k 上下文无衰减</a:t>
            </a:r>
          </a:p>
        </p:txBody>
      </p:sp>
      <p:sp>
        <p:nvSpPr>
          <p:cNvPr id="69" name="Oval 68"/>
          <p:cNvSpPr/>
          <p:nvPr/>
        </p:nvSpPr>
        <p:spPr>
          <a:xfrm>
            <a:off x="731520" y="3090672"/>
            <a:ext cx="365760" cy="36576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30906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50510"/>
                </a:solidFill>
                <a:latin typeface="Inter"/>
              </a:rPr>
              <a:t>02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25880" y="3044952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F4FF"/>
                </a:solidFill>
                <a:latin typeface="Inter"/>
              </a:rPr>
              <a:t>Tool Use 原生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25880" y="3456432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8B95B3"/>
                </a:solidFill>
                <a:latin typeface="Inter"/>
              </a:rPr>
              <a:t>函数调用 f1 &gt; 0.95</a:t>
            </a:r>
          </a:p>
        </p:txBody>
      </p:sp>
      <p:sp>
        <p:nvSpPr>
          <p:cNvPr id="73" name="Oval 72"/>
          <p:cNvSpPr/>
          <p:nvPr/>
        </p:nvSpPr>
        <p:spPr>
          <a:xfrm>
            <a:off x="731520" y="4032504"/>
            <a:ext cx="365760" cy="36576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40325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50510"/>
                </a:solidFill>
                <a:latin typeface="Inter"/>
              </a:rPr>
              <a:t>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25880" y="3986784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F4FF"/>
                </a:solidFill>
                <a:latin typeface="Inter"/>
              </a:rPr>
              <a:t>多模态融合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25880" y="4398264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8B95B3"/>
                </a:solidFill>
                <a:latin typeface="Inter"/>
              </a:rPr>
              <a:t>图文音视频统一 tokenizer</a:t>
            </a:r>
          </a:p>
        </p:txBody>
      </p:sp>
      <p:sp>
        <p:nvSpPr>
          <p:cNvPr id="77" name="Oval 76"/>
          <p:cNvSpPr/>
          <p:nvPr/>
        </p:nvSpPr>
        <p:spPr>
          <a:xfrm>
            <a:off x="731520" y="4974336"/>
            <a:ext cx="365760" cy="36576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4974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50510"/>
                </a:solidFill>
                <a:latin typeface="Inter"/>
              </a:rP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25880" y="4928616"/>
            <a:ext cx="1013155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0F4FF"/>
                </a:solidFill>
                <a:latin typeface="Inter"/>
              </a:rPr>
              <a:t>私有化部署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25880" y="5340096"/>
            <a:ext cx="1013155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8B95B3"/>
                </a:solidFill>
                <a:latin typeface="Inter"/>
              </a:rPr>
              <a:t>一条命令起服务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484"/>
                </a:solidFill>
                <a:latin typeface="Inter"/>
              </a:rPr>
              <a:t>Synapse Labs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725911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484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rgbClr val="050510"/>
              </a:gs>
              <a:gs pos="100000">
                <a:srgbClr val="0B0E1F"/>
              </a:gs>
            </a:gsLst>
            <a:lin ang="81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7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3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59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412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3856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0432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0"/>
            <a:ext cx="4572" cy="6858000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657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7315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10972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14630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18288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21945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25603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292607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329183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365759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4023359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43891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7548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12064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48640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585216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1792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4572"/>
          </a:xfrm>
          <a:prstGeom prst="rect">
            <a:avLst/>
          </a:prstGeom>
          <a:solidFill>
            <a:srgbClr val="12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75720" y="45720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715292" y="457200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75720" y="6384340"/>
            <a:ext cx="256032" cy="16459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715292" y="6144768"/>
            <a:ext cx="16459" cy="2560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2606040"/>
            <a:ext cx="10360152" cy="2400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75" b="1" spc="-201">
                <a:solidFill>
                  <a:srgbClr val="F0F4FF"/>
                </a:solidFill>
                <a:latin typeface="Inter"/>
              </a:rPr>
              <a:t>Start building.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3939224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>
                <a:solidFill>
                  <a:srgbClr val="8B95B3"/>
                </a:solidFill>
                <a:latin typeface="Inter"/>
              </a:rPr>
              <a:t>免费额度每月 100k tokens，开箱即用。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4762184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spc="78">
                <a:solidFill>
                  <a:srgbClr val="00D9FF"/>
                </a:solidFill>
                <a:latin typeface="Inter"/>
              </a:rPr>
              <a:t>synapse.ai/signup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484"/>
                </a:solidFill>
                <a:latin typeface="Inter"/>
              </a:rPr>
              <a:t>Synapse Labs · Cupertino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